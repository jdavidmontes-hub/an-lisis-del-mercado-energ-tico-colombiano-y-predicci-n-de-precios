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7" r:id="rId5"/>
    <p:sldId id="258" r:id="rId6"/>
    <p:sldId id="259" r:id="rId7"/>
    <p:sldId id="269" r:id="rId8"/>
    <p:sldId id="260" r:id="rId9"/>
    <p:sldId id="270" r:id="rId10"/>
    <p:sldId id="271" r:id="rId11"/>
    <p:sldId id="261" r:id="rId12"/>
    <p:sldId id="272" r:id="rId13"/>
    <p:sldId id="262" r:id="rId14"/>
    <p:sldId id="273" r:id="rId15"/>
    <p:sldId id="263" r:id="rId16"/>
    <p:sldId id="264" r:id="rId17"/>
    <p:sldId id="266" r:id="rId18"/>
    <p:sldId id="274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E51758-F831-4B92-975F-6609A2C2EBB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F729ED-9B29-472D-A9CF-AD3FAB72DE8F}">
      <dgm:prSet/>
      <dgm:spPr/>
      <dgm:t>
        <a:bodyPr/>
        <a:lstStyle/>
        <a:p>
          <a:r>
            <a:rPr lang="es-ES"/>
            <a:t>Problema: Volatilidad del Precio Spot en Colombia, impulsada por la dependencia hídrica.</a:t>
          </a:r>
          <a:endParaRPr lang="en-US"/>
        </a:p>
      </dgm:t>
    </dgm:pt>
    <dgm:pt modelId="{1E370571-463F-46D4-829E-39CB4E323271}" type="parTrans" cxnId="{1DAC040F-BE7D-4CCA-A0B3-13E66E83B773}">
      <dgm:prSet/>
      <dgm:spPr/>
      <dgm:t>
        <a:bodyPr/>
        <a:lstStyle/>
        <a:p>
          <a:endParaRPr lang="en-US"/>
        </a:p>
      </dgm:t>
    </dgm:pt>
    <dgm:pt modelId="{C60BAF0B-50F7-4118-AD0F-74417D42A983}" type="sibTrans" cxnId="{1DAC040F-BE7D-4CCA-A0B3-13E66E83B773}">
      <dgm:prSet/>
      <dgm:spPr/>
      <dgm:t>
        <a:bodyPr/>
        <a:lstStyle/>
        <a:p>
          <a:endParaRPr lang="en-US"/>
        </a:p>
      </dgm:t>
    </dgm:pt>
    <dgm:pt modelId="{FBFC700A-DFCF-4B93-8EE1-8F8779112950}">
      <dgm:prSet/>
      <dgm:spPr/>
      <dgm:t>
        <a:bodyPr/>
        <a:lstStyle/>
        <a:p>
          <a:r>
            <a:rPr lang="es-ES"/>
            <a:t>Objetivos: 1. Analizar el Precio Spot vs. Embalses. 2. Comparar la volatilidad con Europa. 3. Desarrollar un modelo predictivo base (ML).</a:t>
          </a:r>
          <a:endParaRPr lang="en-US"/>
        </a:p>
      </dgm:t>
    </dgm:pt>
    <dgm:pt modelId="{D10517B5-373F-4677-8F26-7601C7A61FF7}" type="parTrans" cxnId="{BDC8E78C-B128-49F6-B1C7-4361B224A67C}">
      <dgm:prSet/>
      <dgm:spPr/>
      <dgm:t>
        <a:bodyPr/>
        <a:lstStyle/>
        <a:p>
          <a:endParaRPr lang="en-US"/>
        </a:p>
      </dgm:t>
    </dgm:pt>
    <dgm:pt modelId="{542086E8-D8D8-44CF-91C9-B6E3CB289E95}" type="sibTrans" cxnId="{BDC8E78C-B128-49F6-B1C7-4361B224A67C}">
      <dgm:prSet/>
      <dgm:spPr/>
      <dgm:t>
        <a:bodyPr/>
        <a:lstStyle/>
        <a:p>
          <a:endParaRPr lang="en-US"/>
        </a:p>
      </dgm:t>
    </dgm:pt>
    <dgm:pt modelId="{139C71B6-50D3-4D23-A41D-946D64ED30D8}" type="pres">
      <dgm:prSet presAssocID="{A1E51758-F831-4B92-975F-6609A2C2EB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132F16-8FF3-4000-A76D-A5C31674F9D6}" type="pres">
      <dgm:prSet presAssocID="{C6F729ED-9B29-472D-A9CF-AD3FAB72DE8F}" presName="hierRoot1" presStyleCnt="0"/>
      <dgm:spPr/>
    </dgm:pt>
    <dgm:pt modelId="{AB3951F6-9F76-482E-AC60-4E790C523CE1}" type="pres">
      <dgm:prSet presAssocID="{C6F729ED-9B29-472D-A9CF-AD3FAB72DE8F}" presName="composite" presStyleCnt="0"/>
      <dgm:spPr/>
    </dgm:pt>
    <dgm:pt modelId="{A80A6F56-DFAC-40A9-AE6A-1FC181676E5A}" type="pres">
      <dgm:prSet presAssocID="{C6F729ED-9B29-472D-A9CF-AD3FAB72DE8F}" presName="background" presStyleLbl="node0" presStyleIdx="0" presStyleCnt="2"/>
      <dgm:spPr/>
    </dgm:pt>
    <dgm:pt modelId="{7E978A45-8EFC-49AD-9168-C1054AE41600}" type="pres">
      <dgm:prSet presAssocID="{C6F729ED-9B29-472D-A9CF-AD3FAB72DE8F}" presName="text" presStyleLbl="fgAcc0" presStyleIdx="0" presStyleCnt="2">
        <dgm:presLayoutVars>
          <dgm:chPref val="3"/>
        </dgm:presLayoutVars>
      </dgm:prSet>
      <dgm:spPr/>
    </dgm:pt>
    <dgm:pt modelId="{F7F26295-12BC-44D7-BA8C-9A67C182AF71}" type="pres">
      <dgm:prSet presAssocID="{C6F729ED-9B29-472D-A9CF-AD3FAB72DE8F}" presName="hierChild2" presStyleCnt="0"/>
      <dgm:spPr/>
    </dgm:pt>
    <dgm:pt modelId="{61DE4753-75E4-4A82-A3E6-88A425F7DE75}" type="pres">
      <dgm:prSet presAssocID="{FBFC700A-DFCF-4B93-8EE1-8F8779112950}" presName="hierRoot1" presStyleCnt="0"/>
      <dgm:spPr/>
    </dgm:pt>
    <dgm:pt modelId="{41A8560A-8B7C-4E86-BEB2-C55555641990}" type="pres">
      <dgm:prSet presAssocID="{FBFC700A-DFCF-4B93-8EE1-8F8779112950}" presName="composite" presStyleCnt="0"/>
      <dgm:spPr/>
    </dgm:pt>
    <dgm:pt modelId="{0505BAE8-9499-41FC-B57D-9910A08350F5}" type="pres">
      <dgm:prSet presAssocID="{FBFC700A-DFCF-4B93-8EE1-8F8779112950}" presName="background" presStyleLbl="node0" presStyleIdx="1" presStyleCnt="2"/>
      <dgm:spPr/>
    </dgm:pt>
    <dgm:pt modelId="{48177BB4-90CA-42C9-9FAD-5A7ABC388FCB}" type="pres">
      <dgm:prSet presAssocID="{FBFC700A-DFCF-4B93-8EE1-8F8779112950}" presName="text" presStyleLbl="fgAcc0" presStyleIdx="1" presStyleCnt="2">
        <dgm:presLayoutVars>
          <dgm:chPref val="3"/>
        </dgm:presLayoutVars>
      </dgm:prSet>
      <dgm:spPr/>
    </dgm:pt>
    <dgm:pt modelId="{06828A9C-FA2B-4702-966E-E3F99B31E591}" type="pres">
      <dgm:prSet presAssocID="{FBFC700A-DFCF-4B93-8EE1-8F8779112950}" presName="hierChild2" presStyleCnt="0"/>
      <dgm:spPr/>
    </dgm:pt>
  </dgm:ptLst>
  <dgm:cxnLst>
    <dgm:cxn modelId="{1DAC040F-BE7D-4CCA-A0B3-13E66E83B773}" srcId="{A1E51758-F831-4B92-975F-6609A2C2EBBF}" destId="{C6F729ED-9B29-472D-A9CF-AD3FAB72DE8F}" srcOrd="0" destOrd="0" parTransId="{1E370571-463F-46D4-829E-39CB4E323271}" sibTransId="{C60BAF0B-50F7-4118-AD0F-74417D42A983}"/>
    <dgm:cxn modelId="{37BBBB40-7D26-485C-9335-20E0B158221E}" type="presOf" srcId="{A1E51758-F831-4B92-975F-6609A2C2EBBF}" destId="{139C71B6-50D3-4D23-A41D-946D64ED30D8}" srcOrd="0" destOrd="0" presId="urn:microsoft.com/office/officeart/2005/8/layout/hierarchy1"/>
    <dgm:cxn modelId="{1380B686-CEBE-42F7-8AD6-9C49C044A066}" type="presOf" srcId="{C6F729ED-9B29-472D-A9CF-AD3FAB72DE8F}" destId="{7E978A45-8EFC-49AD-9168-C1054AE41600}" srcOrd="0" destOrd="0" presId="urn:microsoft.com/office/officeart/2005/8/layout/hierarchy1"/>
    <dgm:cxn modelId="{BDC8E78C-B128-49F6-B1C7-4361B224A67C}" srcId="{A1E51758-F831-4B92-975F-6609A2C2EBBF}" destId="{FBFC700A-DFCF-4B93-8EE1-8F8779112950}" srcOrd="1" destOrd="0" parTransId="{D10517B5-373F-4677-8F26-7601C7A61FF7}" sibTransId="{542086E8-D8D8-44CF-91C9-B6E3CB289E95}"/>
    <dgm:cxn modelId="{0839DAB5-D92B-4B02-8175-86A60B98E9C6}" type="presOf" srcId="{FBFC700A-DFCF-4B93-8EE1-8F8779112950}" destId="{48177BB4-90CA-42C9-9FAD-5A7ABC388FCB}" srcOrd="0" destOrd="0" presId="urn:microsoft.com/office/officeart/2005/8/layout/hierarchy1"/>
    <dgm:cxn modelId="{1E44FA08-0BDB-4935-A8AA-1D99A2F280D5}" type="presParOf" srcId="{139C71B6-50D3-4D23-A41D-946D64ED30D8}" destId="{87132F16-8FF3-4000-A76D-A5C31674F9D6}" srcOrd="0" destOrd="0" presId="urn:microsoft.com/office/officeart/2005/8/layout/hierarchy1"/>
    <dgm:cxn modelId="{6CCE5D82-4F08-4FB2-90F4-5E15B2398951}" type="presParOf" srcId="{87132F16-8FF3-4000-A76D-A5C31674F9D6}" destId="{AB3951F6-9F76-482E-AC60-4E790C523CE1}" srcOrd="0" destOrd="0" presId="urn:microsoft.com/office/officeart/2005/8/layout/hierarchy1"/>
    <dgm:cxn modelId="{AC1D9FFC-49A5-4C42-85AA-86AD1273C8DE}" type="presParOf" srcId="{AB3951F6-9F76-482E-AC60-4E790C523CE1}" destId="{A80A6F56-DFAC-40A9-AE6A-1FC181676E5A}" srcOrd="0" destOrd="0" presId="urn:microsoft.com/office/officeart/2005/8/layout/hierarchy1"/>
    <dgm:cxn modelId="{5EC74F51-2B95-4BEC-A3AC-421510CB31E2}" type="presParOf" srcId="{AB3951F6-9F76-482E-AC60-4E790C523CE1}" destId="{7E978A45-8EFC-49AD-9168-C1054AE41600}" srcOrd="1" destOrd="0" presId="urn:microsoft.com/office/officeart/2005/8/layout/hierarchy1"/>
    <dgm:cxn modelId="{F933FCC3-5823-4299-B809-7E04B95A27F7}" type="presParOf" srcId="{87132F16-8FF3-4000-A76D-A5C31674F9D6}" destId="{F7F26295-12BC-44D7-BA8C-9A67C182AF71}" srcOrd="1" destOrd="0" presId="urn:microsoft.com/office/officeart/2005/8/layout/hierarchy1"/>
    <dgm:cxn modelId="{007E0F30-6DD5-42DA-9CA2-06B5F18CC74B}" type="presParOf" srcId="{139C71B6-50D3-4D23-A41D-946D64ED30D8}" destId="{61DE4753-75E4-4A82-A3E6-88A425F7DE75}" srcOrd="1" destOrd="0" presId="urn:microsoft.com/office/officeart/2005/8/layout/hierarchy1"/>
    <dgm:cxn modelId="{0DDB2A7C-F5EE-44D2-9959-FE3FAF84F3AB}" type="presParOf" srcId="{61DE4753-75E4-4A82-A3E6-88A425F7DE75}" destId="{41A8560A-8B7C-4E86-BEB2-C55555641990}" srcOrd="0" destOrd="0" presId="urn:microsoft.com/office/officeart/2005/8/layout/hierarchy1"/>
    <dgm:cxn modelId="{639105B3-AD97-4538-BEF8-EA05311ECD57}" type="presParOf" srcId="{41A8560A-8B7C-4E86-BEB2-C55555641990}" destId="{0505BAE8-9499-41FC-B57D-9910A08350F5}" srcOrd="0" destOrd="0" presId="urn:microsoft.com/office/officeart/2005/8/layout/hierarchy1"/>
    <dgm:cxn modelId="{E929DF1A-B83D-4320-A06F-32F05C0FB40A}" type="presParOf" srcId="{41A8560A-8B7C-4E86-BEB2-C55555641990}" destId="{48177BB4-90CA-42C9-9FAD-5A7ABC388FCB}" srcOrd="1" destOrd="0" presId="urn:microsoft.com/office/officeart/2005/8/layout/hierarchy1"/>
    <dgm:cxn modelId="{AEBE5059-81AC-4C4F-94E5-B7D770D353AA}" type="presParOf" srcId="{61DE4753-75E4-4A82-A3E6-88A425F7DE75}" destId="{06828A9C-FA2B-4702-966E-E3F99B31E5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7533CE-1857-41F9-B308-2D6DA9B76EE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42F091-DD4B-4333-BB59-C3066910E9A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Precio Spot (Bolsa):</a:t>
          </a:r>
          <a:r>
            <a:rPr lang="es-ES" dirty="0"/>
            <a:t> El valor marginal fijado por la última planta de generación despachada .</a:t>
          </a:r>
          <a:endParaRPr lang="en-US" dirty="0"/>
        </a:p>
      </dgm:t>
    </dgm:pt>
    <dgm:pt modelId="{06E5016E-65EB-4806-AC0C-D5A660751D6F}" type="parTrans" cxnId="{63750755-CF42-4C26-81AF-A1BE4C792B07}">
      <dgm:prSet/>
      <dgm:spPr/>
      <dgm:t>
        <a:bodyPr/>
        <a:lstStyle/>
        <a:p>
          <a:endParaRPr lang="en-US"/>
        </a:p>
      </dgm:t>
    </dgm:pt>
    <dgm:pt modelId="{071A4C96-71AB-4904-BB22-BEA82EC6B0D5}" type="sibTrans" cxnId="{63750755-CF42-4C26-81AF-A1BE4C792B07}">
      <dgm:prSet/>
      <dgm:spPr/>
      <dgm:t>
        <a:bodyPr/>
        <a:lstStyle/>
        <a:p>
          <a:endParaRPr lang="en-US"/>
        </a:p>
      </dgm:t>
    </dgm:pt>
    <dgm:pt modelId="{50FBA3B4-4D5F-4839-ADE0-1E3A92BF79D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Factor Crítico:</a:t>
          </a:r>
          <a:r>
            <a:rPr lang="es-ES"/>
            <a:t> La matriz colombiana es +65% hidráulica, generando una alta vulnerabilidad al clima</a:t>
          </a:r>
          <a:endParaRPr lang="en-US"/>
        </a:p>
      </dgm:t>
    </dgm:pt>
    <dgm:pt modelId="{008F6435-9562-4D62-9383-F8A76504A62F}" type="parTrans" cxnId="{6C1A74E9-DAB6-4C5E-BD90-B18386E6AF4B}">
      <dgm:prSet/>
      <dgm:spPr/>
      <dgm:t>
        <a:bodyPr/>
        <a:lstStyle/>
        <a:p>
          <a:endParaRPr lang="en-US"/>
        </a:p>
      </dgm:t>
    </dgm:pt>
    <dgm:pt modelId="{CA6CE52C-A67B-4B94-AF8C-E60B952BC98F}" type="sibTrans" cxnId="{6C1A74E9-DAB6-4C5E-BD90-B18386E6AF4B}">
      <dgm:prSet/>
      <dgm:spPr/>
      <dgm:t>
        <a:bodyPr/>
        <a:lstStyle/>
        <a:p>
          <a:endParaRPr lang="en-US"/>
        </a:p>
      </dgm:t>
    </dgm:pt>
    <dgm:pt modelId="{E4E2D269-25C0-425A-B0DD-4E853DFC6BD1}" type="pres">
      <dgm:prSet presAssocID="{9B7533CE-1857-41F9-B308-2D6DA9B76EEE}" presName="root" presStyleCnt="0">
        <dgm:presLayoutVars>
          <dgm:dir/>
          <dgm:resizeHandles val="exact"/>
        </dgm:presLayoutVars>
      </dgm:prSet>
      <dgm:spPr/>
    </dgm:pt>
    <dgm:pt modelId="{97A1C305-A6B6-4605-943D-EFF72B96C96C}" type="pres">
      <dgm:prSet presAssocID="{7042F091-DD4B-4333-BB59-C3066910E9A9}" presName="compNode" presStyleCnt="0"/>
      <dgm:spPr/>
    </dgm:pt>
    <dgm:pt modelId="{52DB8FF0-E45F-4C00-933E-88FE745D30D2}" type="pres">
      <dgm:prSet presAssocID="{7042F091-DD4B-4333-BB59-C3066910E9A9}" presName="bgRect" presStyleLbl="bgShp" presStyleIdx="0" presStyleCnt="2"/>
      <dgm:spPr/>
    </dgm:pt>
    <dgm:pt modelId="{F36CC5FD-A041-436F-B80A-4B317302A5B7}" type="pres">
      <dgm:prSet presAssocID="{7042F091-DD4B-4333-BB59-C3066910E9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DA4634CF-69B3-4D8A-AB81-3DCBD5217B9B}" type="pres">
      <dgm:prSet presAssocID="{7042F091-DD4B-4333-BB59-C3066910E9A9}" presName="spaceRect" presStyleCnt="0"/>
      <dgm:spPr/>
    </dgm:pt>
    <dgm:pt modelId="{A5626A92-2BD0-4C9B-9FFA-30273817C5AF}" type="pres">
      <dgm:prSet presAssocID="{7042F091-DD4B-4333-BB59-C3066910E9A9}" presName="parTx" presStyleLbl="revTx" presStyleIdx="0" presStyleCnt="2">
        <dgm:presLayoutVars>
          <dgm:chMax val="0"/>
          <dgm:chPref val="0"/>
        </dgm:presLayoutVars>
      </dgm:prSet>
      <dgm:spPr/>
    </dgm:pt>
    <dgm:pt modelId="{202C0CA8-78F6-4CD8-AD99-45826E3EE3E5}" type="pres">
      <dgm:prSet presAssocID="{071A4C96-71AB-4904-BB22-BEA82EC6B0D5}" presName="sibTrans" presStyleCnt="0"/>
      <dgm:spPr/>
    </dgm:pt>
    <dgm:pt modelId="{0F5C7493-DE25-4C6A-B44B-575C55063294}" type="pres">
      <dgm:prSet presAssocID="{50FBA3B4-4D5F-4839-ADE0-1E3A92BF79D2}" presName="compNode" presStyleCnt="0"/>
      <dgm:spPr/>
    </dgm:pt>
    <dgm:pt modelId="{40A15B43-108C-4571-B637-B0AC8C5F79FD}" type="pres">
      <dgm:prSet presAssocID="{50FBA3B4-4D5F-4839-ADE0-1E3A92BF79D2}" presName="bgRect" presStyleLbl="bgShp" presStyleIdx="1" presStyleCnt="2"/>
      <dgm:spPr/>
    </dgm:pt>
    <dgm:pt modelId="{5484A752-0534-4A48-AC52-746AF4B62115}" type="pres">
      <dgm:prSet presAssocID="{50FBA3B4-4D5F-4839-ADE0-1E3A92BF79D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40AF6901-2734-4518-8744-13BC859AA472}" type="pres">
      <dgm:prSet presAssocID="{50FBA3B4-4D5F-4839-ADE0-1E3A92BF79D2}" presName="spaceRect" presStyleCnt="0"/>
      <dgm:spPr/>
    </dgm:pt>
    <dgm:pt modelId="{026D29D8-5496-4D46-83DF-56046112EA88}" type="pres">
      <dgm:prSet presAssocID="{50FBA3B4-4D5F-4839-ADE0-1E3A92BF79D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176B409-963A-471E-B851-35CEB5C29656}" type="presOf" srcId="{50FBA3B4-4D5F-4839-ADE0-1E3A92BF79D2}" destId="{026D29D8-5496-4D46-83DF-56046112EA88}" srcOrd="0" destOrd="0" presId="urn:microsoft.com/office/officeart/2018/2/layout/IconVerticalSolidList"/>
    <dgm:cxn modelId="{63750755-CF42-4C26-81AF-A1BE4C792B07}" srcId="{9B7533CE-1857-41F9-B308-2D6DA9B76EEE}" destId="{7042F091-DD4B-4333-BB59-C3066910E9A9}" srcOrd="0" destOrd="0" parTransId="{06E5016E-65EB-4806-AC0C-D5A660751D6F}" sibTransId="{071A4C96-71AB-4904-BB22-BEA82EC6B0D5}"/>
    <dgm:cxn modelId="{EDDFE091-6432-4178-A05C-5146D5604674}" type="presOf" srcId="{7042F091-DD4B-4333-BB59-C3066910E9A9}" destId="{A5626A92-2BD0-4C9B-9FFA-30273817C5AF}" srcOrd="0" destOrd="0" presId="urn:microsoft.com/office/officeart/2018/2/layout/IconVerticalSolidList"/>
    <dgm:cxn modelId="{6C1A74E9-DAB6-4C5E-BD90-B18386E6AF4B}" srcId="{9B7533CE-1857-41F9-B308-2D6DA9B76EEE}" destId="{50FBA3B4-4D5F-4839-ADE0-1E3A92BF79D2}" srcOrd="1" destOrd="0" parTransId="{008F6435-9562-4D62-9383-F8A76504A62F}" sibTransId="{CA6CE52C-A67B-4B94-AF8C-E60B952BC98F}"/>
    <dgm:cxn modelId="{AC0369FA-6794-4D35-8FE3-C2D2EBCF9A26}" type="presOf" srcId="{9B7533CE-1857-41F9-B308-2D6DA9B76EEE}" destId="{E4E2D269-25C0-425A-B0DD-4E853DFC6BD1}" srcOrd="0" destOrd="0" presId="urn:microsoft.com/office/officeart/2018/2/layout/IconVerticalSolidList"/>
    <dgm:cxn modelId="{6CC7D9AF-2038-49F2-83EE-F584D9661278}" type="presParOf" srcId="{E4E2D269-25C0-425A-B0DD-4E853DFC6BD1}" destId="{97A1C305-A6B6-4605-943D-EFF72B96C96C}" srcOrd="0" destOrd="0" presId="urn:microsoft.com/office/officeart/2018/2/layout/IconVerticalSolidList"/>
    <dgm:cxn modelId="{D21F51EA-06EA-4695-8E9A-C13FE4899FFF}" type="presParOf" srcId="{97A1C305-A6B6-4605-943D-EFF72B96C96C}" destId="{52DB8FF0-E45F-4C00-933E-88FE745D30D2}" srcOrd="0" destOrd="0" presId="urn:microsoft.com/office/officeart/2018/2/layout/IconVerticalSolidList"/>
    <dgm:cxn modelId="{7AD75328-F909-4EAE-ABBA-1C3C23063A97}" type="presParOf" srcId="{97A1C305-A6B6-4605-943D-EFF72B96C96C}" destId="{F36CC5FD-A041-436F-B80A-4B317302A5B7}" srcOrd="1" destOrd="0" presId="urn:microsoft.com/office/officeart/2018/2/layout/IconVerticalSolidList"/>
    <dgm:cxn modelId="{EA7571C4-9B81-48B2-9C85-2992DFA3DE82}" type="presParOf" srcId="{97A1C305-A6B6-4605-943D-EFF72B96C96C}" destId="{DA4634CF-69B3-4D8A-AB81-3DCBD5217B9B}" srcOrd="2" destOrd="0" presId="urn:microsoft.com/office/officeart/2018/2/layout/IconVerticalSolidList"/>
    <dgm:cxn modelId="{FF78024A-841A-4815-87FB-B90B9F2E1F9B}" type="presParOf" srcId="{97A1C305-A6B6-4605-943D-EFF72B96C96C}" destId="{A5626A92-2BD0-4C9B-9FFA-30273817C5AF}" srcOrd="3" destOrd="0" presId="urn:microsoft.com/office/officeart/2018/2/layout/IconVerticalSolidList"/>
    <dgm:cxn modelId="{9D919BB7-1924-4FB6-9A42-647B021DD3DC}" type="presParOf" srcId="{E4E2D269-25C0-425A-B0DD-4E853DFC6BD1}" destId="{202C0CA8-78F6-4CD8-AD99-45826E3EE3E5}" srcOrd="1" destOrd="0" presId="urn:microsoft.com/office/officeart/2018/2/layout/IconVerticalSolidList"/>
    <dgm:cxn modelId="{B6D3C515-A140-4AE4-BFE7-D480AA8AB9C7}" type="presParOf" srcId="{E4E2D269-25C0-425A-B0DD-4E853DFC6BD1}" destId="{0F5C7493-DE25-4C6A-B44B-575C55063294}" srcOrd="2" destOrd="0" presId="urn:microsoft.com/office/officeart/2018/2/layout/IconVerticalSolidList"/>
    <dgm:cxn modelId="{AD9FC4D0-59B2-4DB0-B97E-35FB24B12695}" type="presParOf" srcId="{0F5C7493-DE25-4C6A-B44B-575C55063294}" destId="{40A15B43-108C-4571-B637-B0AC8C5F79FD}" srcOrd="0" destOrd="0" presId="urn:microsoft.com/office/officeart/2018/2/layout/IconVerticalSolidList"/>
    <dgm:cxn modelId="{6482F3CC-CDBA-4AE6-941B-F06D86727795}" type="presParOf" srcId="{0F5C7493-DE25-4C6A-B44B-575C55063294}" destId="{5484A752-0534-4A48-AC52-746AF4B62115}" srcOrd="1" destOrd="0" presId="urn:microsoft.com/office/officeart/2018/2/layout/IconVerticalSolidList"/>
    <dgm:cxn modelId="{035E825C-2B3F-4019-B2BC-617D544C515D}" type="presParOf" srcId="{0F5C7493-DE25-4C6A-B44B-575C55063294}" destId="{40AF6901-2734-4518-8744-13BC859AA472}" srcOrd="2" destOrd="0" presId="urn:microsoft.com/office/officeart/2018/2/layout/IconVerticalSolidList"/>
    <dgm:cxn modelId="{F0259D7A-B665-41EA-838C-46E132139572}" type="presParOf" srcId="{0F5C7493-DE25-4C6A-B44B-575C55063294}" destId="{026D29D8-5496-4D46-83DF-56046112EA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CD1BBA-2680-484A-A6C3-510964F49F4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0B11BF-9A9F-469B-9BBB-BC98BC687F8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Adquisición: Uso de </a:t>
          </a:r>
          <a:r>
            <a:rPr lang="es-ES" dirty="0" err="1"/>
            <a:t>requests</a:t>
          </a:r>
          <a:r>
            <a:rPr lang="es-ES" dirty="0"/>
            <a:t> para obtener datos de </a:t>
          </a:r>
          <a:r>
            <a:rPr lang="es-ES" dirty="0" err="1"/>
            <a:t>APIs</a:t>
          </a:r>
          <a:r>
            <a:rPr lang="es-ES" dirty="0"/>
            <a:t> y fuentes públicas (SIMEM , </a:t>
          </a:r>
          <a:r>
            <a:rPr lang="es-ES" dirty="0" err="1"/>
            <a:t>Sinergox</a:t>
          </a:r>
          <a:r>
            <a:rPr lang="es-ES" dirty="0"/>
            <a:t>, Nord Pool, EPEX SPOT) .</a:t>
          </a:r>
          <a:endParaRPr lang="en-US" dirty="0"/>
        </a:p>
      </dgm:t>
    </dgm:pt>
    <dgm:pt modelId="{062D0FF1-24A3-48F7-BCD1-62CE75FF1AC8}" type="parTrans" cxnId="{5F464913-28FB-4404-BFE5-18EB9E537779}">
      <dgm:prSet/>
      <dgm:spPr/>
      <dgm:t>
        <a:bodyPr/>
        <a:lstStyle/>
        <a:p>
          <a:endParaRPr lang="en-US"/>
        </a:p>
      </dgm:t>
    </dgm:pt>
    <dgm:pt modelId="{0C80CC6E-DD75-4C94-9E1D-684DA3D32D20}" type="sibTrans" cxnId="{5F464913-28FB-4404-BFE5-18EB9E537779}">
      <dgm:prSet/>
      <dgm:spPr/>
      <dgm:t>
        <a:bodyPr/>
        <a:lstStyle/>
        <a:p>
          <a:endParaRPr lang="en-US"/>
        </a:p>
      </dgm:t>
    </dgm:pt>
    <dgm:pt modelId="{25E950D7-5780-41A7-BFA6-3C41213B395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Procesamiento: Unificación de series por fecha, cálculo del Nivel Agregado de Embalses y conversión de COP a EUR.</a:t>
          </a:r>
          <a:endParaRPr lang="en-US"/>
        </a:p>
      </dgm:t>
    </dgm:pt>
    <dgm:pt modelId="{A50BBB27-702A-4349-B638-3364EC3C5B43}" type="parTrans" cxnId="{22875BC2-15F9-4B1F-ACC5-C6AB915B64A5}">
      <dgm:prSet/>
      <dgm:spPr/>
      <dgm:t>
        <a:bodyPr/>
        <a:lstStyle/>
        <a:p>
          <a:endParaRPr lang="en-US"/>
        </a:p>
      </dgm:t>
    </dgm:pt>
    <dgm:pt modelId="{5D1177C6-1EDF-49DD-A816-CDDA4094CE85}" type="sibTrans" cxnId="{22875BC2-15F9-4B1F-ACC5-C6AB915B64A5}">
      <dgm:prSet/>
      <dgm:spPr/>
      <dgm:t>
        <a:bodyPr/>
        <a:lstStyle/>
        <a:p>
          <a:endParaRPr lang="en-US"/>
        </a:p>
      </dgm:t>
    </dgm:pt>
    <dgm:pt modelId="{FD6273BA-7254-465B-8732-61426A65FD66}" type="pres">
      <dgm:prSet presAssocID="{51CD1BBA-2680-484A-A6C3-510964F49F4D}" presName="root" presStyleCnt="0">
        <dgm:presLayoutVars>
          <dgm:dir/>
          <dgm:resizeHandles val="exact"/>
        </dgm:presLayoutVars>
      </dgm:prSet>
      <dgm:spPr/>
    </dgm:pt>
    <dgm:pt modelId="{D2693DAD-903D-440C-997D-C410F1E95999}" type="pres">
      <dgm:prSet presAssocID="{1E0B11BF-9A9F-469B-9BBB-BC98BC687F8A}" presName="compNode" presStyleCnt="0"/>
      <dgm:spPr/>
    </dgm:pt>
    <dgm:pt modelId="{76921BF1-61D3-4C38-BE33-233D677DA87E}" type="pres">
      <dgm:prSet presAssocID="{1E0B11BF-9A9F-469B-9BBB-BC98BC687F8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5BB0657C-A0D3-4C53-96B9-1B4612EF4C09}" type="pres">
      <dgm:prSet presAssocID="{1E0B11BF-9A9F-469B-9BBB-BC98BC687F8A}" presName="spaceRect" presStyleCnt="0"/>
      <dgm:spPr/>
    </dgm:pt>
    <dgm:pt modelId="{1842515F-B31B-4958-A766-83DEB66A9EA2}" type="pres">
      <dgm:prSet presAssocID="{1E0B11BF-9A9F-469B-9BBB-BC98BC687F8A}" presName="textRect" presStyleLbl="revTx" presStyleIdx="0" presStyleCnt="2">
        <dgm:presLayoutVars>
          <dgm:chMax val="1"/>
          <dgm:chPref val="1"/>
        </dgm:presLayoutVars>
      </dgm:prSet>
      <dgm:spPr/>
    </dgm:pt>
    <dgm:pt modelId="{4310DC36-05FD-4EC5-9862-53B906294367}" type="pres">
      <dgm:prSet presAssocID="{0C80CC6E-DD75-4C94-9E1D-684DA3D32D20}" presName="sibTrans" presStyleCnt="0"/>
      <dgm:spPr/>
    </dgm:pt>
    <dgm:pt modelId="{73DCD1F8-7219-4412-B56A-B816FB779099}" type="pres">
      <dgm:prSet presAssocID="{25E950D7-5780-41A7-BFA6-3C41213B3952}" presName="compNode" presStyleCnt="0"/>
      <dgm:spPr/>
    </dgm:pt>
    <dgm:pt modelId="{25A9E0B2-E7F1-4751-A2C4-71BC7BB0263D}" type="pres">
      <dgm:prSet presAssocID="{25E950D7-5780-41A7-BFA6-3C41213B395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F70BAE00-1A11-4F7F-B310-ED93857B8D8E}" type="pres">
      <dgm:prSet presAssocID="{25E950D7-5780-41A7-BFA6-3C41213B3952}" presName="spaceRect" presStyleCnt="0"/>
      <dgm:spPr/>
    </dgm:pt>
    <dgm:pt modelId="{D223B7EA-A40B-422B-AE9F-3C6BD1FF2E2A}" type="pres">
      <dgm:prSet presAssocID="{25E950D7-5780-41A7-BFA6-3C41213B395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464913-28FB-4404-BFE5-18EB9E537779}" srcId="{51CD1BBA-2680-484A-A6C3-510964F49F4D}" destId="{1E0B11BF-9A9F-469B-9BBB-BC98BC687F8A}" srcOrd="0" destOrd="0" parTransId="{062D0FF1-24A3-48F7-BCD1-62CE75FF1AC8}" sibTransId="{0C80CC6E-DD75-4C94-9E1D-684DA3D32D20}"/>
    <dgm:cxn modelId="{1586073E-B889-4E65-9F29-FDF0E258EBDE}" type="presOf" srcId="{51CD1BBA-2680-484A-A6C3-510964F49F4D}" destId="{FD6273BA-7254-465B-8732-61426A65FD66}" srcOrd="0" destOrd="0" presId="urn:microsoft.com/office/officeart/2018/2/layout/IconLabelList"/>
    <dgm:cxn modelId="{2A29DF83-BD3C-4A1A-9FDB-3DCB0297C1A9}" type="presOf" srcId="{1E0B11BF-9A9F-469B-9BBB-BC98BC687F8A}" destId="{1842515F-B31B-4958-A766-83DEB66A9EA2}" srcOrd="0" destOrd="0" presId="urn:microsoft.com/office/officeart/2018/2/layout/IconLabelList"/>
    <dgm:cxn modelId="{22875BC2-15F9-4B1F-ACC5-C6AB915B64A5}" srcId="{51CD1BBA-2680-484A-A6C3-510964F49F4D}" destId="{25E950D7-5780-41A7-BFA6-3C41213B3952}" srcOrd="1" destOrd="0" parTransId="{A50BBB27-702A-4349-B638-3364EC3C5B43}" sibTransId="{5D1177C6-1EDF-49DD-A816-CDDA4094CE85}"/>
    <dgm:cxn modelId="{AE638FEA-A42E-434B-B49F-4BE8D308F26F}" type="presOf" srcId="{25E950D7-5780-41A7-BFA6-3C41213B3952}" destId="{D223B7EA-A40B-422B-AE9F-3C6BD1FF2E2A}" srcOrd="0" destOrd="0" presId="urn:microsoft.com/office/officeart/2018/2/layout/IconLabelList"/>
    <dgm:cxn modelId="{2435708E-3FF4-4E61-88A1-78CD1BF4A3C7}" type="presParOf" srcId="{FD6273BA-7254-465B-8732-61426A65FD66}" destId="{D2693DAD-903D-440C-997D-C410F1E95999}" srcOrd="0" destOrd="0" presId="urn:microsoft.com/office/officeart/2018/2/layout/IconLabelList"/>
    <dgm:cxn modelId="{67D1CBAD-8826-46B4-B2C4-6DD090DE1C1B}" type="presParOf" srcId="{D2693DAD-903D-440C-997D-C410F1E95999}" destId="{76921BF1-61D3-4C38-BE33-233D677DA87E}" srcOrd="0" destOrd="0" presId="urn:microsoft.com/office/officeart/2018/2/layout/IconLabelList"/>
    <dgm:cxn modelId="{5A92486E-D8C7-4640-9C54-5C07BC019FF1}" type="presParOf" srcId="{D2693DAD-903D-440C-997D-C410F1E95999}" destId="{5BB0657C-A0D3-4C53-96B9-1B4612EF4C09}" srcOrd="1" destOrd="0" presId="urn:microsoft.com/office/officeart/2018/2/layout/IconLabelList"/>
    <dgm:cxn modelId="{F5EBC94A-059C-4519-AFA0-AA7478F844A8}" type="presParOf" srcId="{D2693DAD-903D-440C-997D-C410F1E95999}" destId="{1842515F-B31B-4958-A766-83DEB66A9EA2}" srcOrd="2" destOrd="0" presId="urn:microsoft.com/office/officeart/2018/2/layout/IconLabelList"/>
    <dgm:cxn modelId="{EFD4F2F5-18AC-423C-9D36-486F410ABC6A}" type="presParOf" srcId="{FD6273BA-7254-465B-8732-61426A65FD66}" destId="{4310DC36-05FD-4EC5-9862-53B906294367}" srcOrd="1" destOrd="0" presId="urn:microsoft.com/office/officeart/2018/2/layout/IconLabelList"/>
    <dgm:cxn modelId="{8E415EA4-1CA1-4837-8A2C-E35C5E3439C9}" type="presParOf" srcId="{FD6273BA-7254-465B-8732-61426A65FD66}" destId="{73DCD1F8-7219-4412-B56A-B816FB779099}" srcOrd="2" destOrd="0" presId="urn:microsoft.com/office/officeart/2018/2/layout/IconLabelList"/>
    <dgm:cxn modelId="{771DAC8A-91D7-4938-A66A-D00AFAAB0FB2}" type="presParOf" srcId="{73DCD1F8-7219-4412-B56A-B816FB779099}" destId="{25A9E0B2-E7F1-4751-A2C4-71BC7BB0263D}" srcOrd="0" destOrd="0" presId="urn:microsoft.com/office/officeart/2018/2/layout/IconLabelList"/>
    <dgm:cxn modelId="{7FC28814-F7AA-47AC-ACD0-5B4D8EB22AC3}" type="presParOf" srcId="{73DCD1F8-7219-4412-B56A-B816FB779099}" destId="{F70BAE00-1A11-4F7F-B310-ED93857B8D8E}" srcOrd="1" destOrd="0" presId="urn:microsoft.com/office/officeart/2018/2/layout/IconLabelList"/>
    <dgm:cxn modelId="{CB4142B4-979A-49CF-84FD-7FB695E3637F}" type="presParOf" srcId="{73DCD1F8-7219-4412-B56A-B816FB779099}" destId="{D223B7EA-A40B-422B-AE9F-3C6BD1FF2E2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66532B-BFB4-4B03-9D6E-5A26F63F851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3717D8-F90B-4B4E-B7A3-EA1EA653AE7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Objetivo: Predecir el Precio Spot Diario para establecer un punto de </a:t>
          </a:r>
          <a:r>
            <a:rPr lang="es-ES" dirty="0" err="1"/>
            <a:t>referenncia</a:t>
          </a:r>
          <a:r>
            <a:rPr lang="es-ES" dirty="0"/>
            <a:t>. </a:t>
          </a:r>
          <a:endParaRPr lang="en-US" dirty="0"/>
        </a:p>
      </dgm:t>
    </dgm:pt>
    <dgm:pt modelId="{E3BF72FB-AFDE-49DC-9B78-EB83E0002EB1}" type="parTrans" cxnId="{A697D312-6BEE-49ED-A18A-75A07144AA8A}">
      <dgm:prSet/>
      <dgm:spPr/>
      <dgm:t>
        <a:bodyPr/>
        <a:lstStyle/>
        <a:p>
          <a:endParaRPr lang="en-US"/>
        </a:p>
      </dgm:t>
    </dgm:pt>
    <dgm:pt modelId="{21EE5C22-8329-4282-B086-2CEDBB7746BD}" type="sibTrans" cxnId="{A697D312-6BEE-49ED-A18A-75A07144AA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8C3243-FCAA-40E5-BF37-267FBAD6A857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Modelo: Regresión Lineal (</a:t>
          </a:r>
          <a:r>
            <a:rPr lang="es-ES" dirty="0" err="1"/>
            <a:t>scikit-learn</a:t>
          </a:r>
          <a:r>
            <a:rPr lang="es-ES" dirty="0"/>
            <a:t>). </a:t>
          </a:r>
          <a:r>
            <a:rPr lang="es-ES" dirty="0" err="1"/>
            <a:t>Features</a:t>
          </a:r>
          <a:r>
            <a:rPr lang="es-ES" dirty="0"/>
            <a:t> Críticas: Precio del día anterior (Inercia) y Nivel de Embalses del día anterior (Restricción).</a:t>
          </a:r>
          <a:endParaRPr lang="en-US" dirty="0"/>
        </a:p>
      </dgm:t>
    </dgm:pt>
    <dgm:pt modelId="{74F23DE2-F614-4D32-AA4A-C1C19FDEC425}" type="parTrans" cxnId="{5B4DD935-FCD9-4BBB-A82D-5A6772D8D952}">
      <dgm:prSet/>
      <dgm:spPr/>
      <dgm:t>
        <a:bodyPr/>
        <a:lstStyle/>
        <a:p>
          <a:endParaRPr lang="en-US"/>
        </a:p>
      </dgm:t>
    </dgm:pt>
    <dgm:pt modelId="{93BEE93D-3B4C-49D5-83C8-9D5E6192E6F1}" type="sibTrans" cxnId="{5B4DD935-FCD9-4BBB-A82D-5A6772D8D952}">
      <dgm:prSet/>
      <dgm:spPr/>
      <dgm:t>
        <a:bodyPr/>
        <a:lstStyle/>
        <a:p>
          <a:endParaRPr lang="en-US"/>
        </a:p>
      </dgm:t>
    </dgm:pt>
    <dgm:pt modelId="{B2B6DA18-5BDF-4306-BC7E-EBB699F8E548}" type="pres">
      <dgm:prSet presAssocID="{4866532B-BFB4-4B03-9D6E-5A26F63F8515}" presName="root" presStyleCnt="0">
        <dgm:presLayoutVars>
          <dgm:dir/>
          <dgm:resizeHandles val="exact"/>
        </dgm:presLayoutVars>
      </dgm:prSet>
      <dgm:spPr/>
    </dgm:pt>
    <dgm:pt modelId="{0C84E3DD-EFA2-4D8A-A5F6-47AD52CE29D5}" type="pres">
      <dgm:prSet presAssocID="{4866532B-BFB4-4B03-9D6E-5A26F63F8515}" presName="container" presStyleCnt="0">
        <dgm:presLayoutVars>
          <dgm:dir/>
          <dgm:resizeHandles val="exact"/>
        </dgm:presLayoutVars>
      </dgm:prSet>
      <dgm:spPr/>
    </dgm:pt>
    <dgm:pt modelId="{D7FB6E5C-97AE-4DA7-BB8C-C8C4299C87A9}" type="pres">
      <dgm:prSet presAssocID="{023717D8-F90B-4B4E-B7A3-EA1EA653AE7C}" presName="compNode" presStyleCnt="0"/>
      <dgm:spPr/>
    </dgm:pt>
    <dgm:pt modelId="{03255202-4353-46FF-B001-25A30AC57285}" type="pres">
      <dgm:prSet presAssocID="{023717D8-F90B-4B4E-B7A3-EA1EA653AE7C}" presName="iconBgRect" presStyleLbl="bgShp" presStyleIdx="0" presStyleCnt="2"/>
      <dgm:spPr/>
    </dgm:pt>
    <dgm:pt modelId="{ADB0B390-3081-47BC-9E58-0EB48042CE24}" type="pres">
      <dgm:prSet presAssocID="{023717D8-F90B-4B4E-B7A3-EA1EA653AE7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bjetivo"/>
        </a:ext>
      </dgm:extLst>
    </dgm:pt>
    <dgm:pt modelId="{0C7DF427-19B4-4D16-98AB-E383AF17363B}" type="pres">
      <dgm:prSet presAssocID="{023717D8-F90B-4B4E-B7A3-EA1EA653AE7C}" presName="spaceRect" presStyleCnt="0"/>
      <dgm:spPr/>
    </dgm:pt>
    <dgm:pt modelId="{5C7B23D8-E91B-46CF-8F46-7A4FF432B462}" type="pres">
      <dgm:prSet presAssocID="{023717D8-F90B-4B4E-B7A3-EA1EA653AE7C}" presName="textRect" presStyleLbl="revTx" presStyleIdx="0" presStyleCnt="2">
        <dgm:presLayoutVars>
          <dgm:chMax val="1"/>
          <dgm:chPref val="1"/>
        </dgm:presLayoutVars>
      </dgm:prSet>
      <dgm:spPr/>
    </dgm:pt>
    <dgm:pt modelId="{E747B250-98A6-4CBE-9680-BA88C60F51C6}" type="pres">
      <dgm:prSet presAssocID="{21EE5C22-8329-4282-B086-2CEDBB7746BD}" presName="sibTrans" presStyleLbl="sibTrans2D1" presStyleIdx="0" presStyleCnt="0"/>
      <dgm:spPr/>
    </dgm:pt>
    <dgm:pt modelId="{EA4861BB-0AE3-4F63-A4A8-54097285FBC2}" type="pres">
      <dgm:prSet presAssocID="{808C3243-FCAA-40E5-BF37-267FBAD6A857}" presName="compNode" presStyleCnt="0"/>
      <dgm:spPr/>
    </dgm:pt>
    <dgm:pt modelId="{487A5739-5B0D-4E3E-9565-F579A0B15974}" type="pres">
      <dgm:prSet presAssocID="{808C3243-FCAA-40E5-BF37-267FBAD6A857}" presName="iconBgRect" presStyleLbl="bgShp" presStyleIdx="1" presStyleCnt="2"/>
      <dgm:spPr/>
    </dgm:pt>
    <dgm:pt modelId="{26715104-04FB-42CD-BC3A-2A36D7D42A79}" type="pres">
      <dgm:prSet presAssocID="{808C3243-FCAA-40E5-BF37-267FBAD6A85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12D5999-AA65-4D38-A676-9F1CE0E58FC3}" type="pres">
      <dgm:prSet presAssocID="{808C3243-FCAA-40E5-BF37-267FBAD6A857}" presName="spaceRect" presStyleCnt="0"/>
      <dgm:spPr/>
    </dgm:pt>
    <dgm:pt modelId="{11656BF5-2576-4EA2-BCD9-CE0DAFE4EFEC}" type="pres">
      <dgm:prSet presAssocID="{808C3243-FCAA-40E5-BF37-267FBAD6A85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DC52A01-9B90-4E79-A2A4-9ED86A89F813}" type="presOf" srcId="{023717D8-F90B-4B4E-B7A3-EA1EA653AE7C}" destId="{5C7B23D8-E91B-46CF-8F46-7A4FF432B462}" srcOrd="0" destOrd="0" presId="urn:microsoft.com/office/officeart/2018/2/layout/IconCircleList"/>
    <dgm:cxn modelId="{A697D312-6BEE-49ED-A18A-75A07144AA8A}" srcId="{4866532B-BFB4-4B03-9D6E-5A26F63F8515}" destId="{023717D8-F90B-4B4E-B7A3-EA1EA653AE7C}" srcOrd="0" destOrd="0" parTransId="{E3BF72FB-AFDE-49DC-9B78-EB83E0002EB1}" sibTransId="{21EE5C22-8329-4282-B086-2CEDBB7746BD}"/>
    <dgm:cxn modelId="{CAF43220-3F6D-4EE5-A513-46615F158654}" type="presOf" srcId="{808C3243-FCAA-40E5-BF37-267FBAD6A857}" destId="{11656BF5-2576-4EA2-BCD9-CE0DAFE4EFEC}" srcOrd="0" destOrd="0" presId="urn:microsoft.com/office/officeart/2018/2/layout/IconCircleList"/>
    <dgm:cxn modelId="{5B4DD935-FCD9-4BBB-A82D-5A6772D8D952}" srcId="{4866532B-BFB4-4B03-9D6E-5A26F63F8515}" destId="{808C3243-FCAA-40E5-BF37-267FBAD6A857}" srcOrd="1" destOrd="0" parTransId="{74F23DE2-F614-4D32-AA4A-C1C19FDEC425}" sibTransId="{93BEE93D-3B4C-49D5-83C8-9D5E6192E6F1}"/>
    <dgm:cxn modelId="{201D615C-2DBC-4D2E-A684-95EBEEBFDFD4}" type="presOf" srcId="{4866532B-BFB4-4B03-9D6E-5A26F63F8515}" destId="{B2B6DA18-5BDF-4306-BC7E-EBB699F8E548}" srcOrd="0" destOrd="0" presId="urn:microsoft.com/office/officeart/2018/2/layout/IconCircleList"/>
    <dgm:cxn modelId="{57C537B7-287F-4AD3-995C-7C81A4D8D5E8}" type="presOf" srcId="{21EE5C22-8329-4282-B086-2CEDBB7746BD}" destId="{E747B250-98A6-4CBE-9680-BA88C60F51C6}" srcOrd="0" destOrd="0" presId="urn:microsoft.com/office/officeart/2018/2/layout/IconCircleList"/>
    <dgm:cxn modelId="{FAC75ACE-D4B7-499A-8C2A-11D4D7BA1EE1}" type="presParOf" srcId="{B2B6DA18-5BDF-4306-BC7E-EBB699F8E548}" destId="{0C84E3DD-EFA2-4D8A-A5F6-47AD52CE29D5}" srcOrd="0" destOrd="0" presId="urn:microsoft.com/office/officeart/2018/2/layout/IconCircleList"/>
    <dgm:cxn modelId="{6BA03F38-6892-4A63-8986-FC17CEBD70BD}" type="presParOf" srcId="{0C84E3DD-EFA2-4D8A-A5F6-47AD52CE29D5}" destId="{D7FB6E5C-97AE-4DA7-BB8C-C8C4299C87A9}" srcOrd="0" destOrd="0" presId="urn:microsoft.com/office/officeart/2018/2/layout/IconCircleList"/>
    <dgm:cxn modelId="{EEB46E84-BE9A-4623-B65F-9457DB69EF61}" type="presParOf" srcId="{D7FB6E5C-97AE-4DA7-BB8C-C8C4299C87A9}" destId="{03255202-4353-46FF-B001-25A30AC57285}" srcOrd="0" destOrd="0" presId="urn:microsoft.com/office/officeart/2018/2/layout/IconCircleList"/>
    <dgm:cxn modelId="{CD642301-8623-4D59-8CBA-CBC32445BEC9}" type="presParOf" srcId="{D7FB6E5C-97AE-4DA7-BB8C-C8C4299C87A9}" destId="{ADB0B390-3081-47BC-9E58-0EB48042CE24}" srcOrd="1" destOrd="0" presId="urn:microsoft.com/office/officeart/2018/2/layout/IconCircleList"/>
    <dgm:cxn modelId="{0A6E98B3-2A5F-410B-A938-DDF7558FA2F1}" type="presParOf" srcId="{D7FB6E5C-97AE-4DA7-BB8C-C8C4299C87A9}" destId="{0C7DF427-19B4-4D16-98AB-E383AF17363B}" srcOrd="2" destOrd="0" presId="urn:microsoft.com/office/officeart/2018/2/layout/IconCircleList"/>
    <dgm:cxn modelId="{89410E3E-7C79-459E-9EC8-7CA94A1F8A58}" type="presParOf" srcId="{D7FB6E5C-97AE-4DA7-BB8C-C8C4299C87A9}" destId="{5C7B23D8-E91B-46CF-8F46-7A4FF432B462}" srcOrd="3" destOrd="0" presId="urn:microsoft.com/office/officeart/2018/2/layout/IconCircleList"/>
    <dgm:cxn modelId="{FA816096-3EED-4E12-B26D-5B1160F090CB}" type="presParOf" srcId="{0C84E3DD-EFA2-4D8A-A5F6-47AD52CE29D5}" destId="{E747B250-98A6-4CBE-9680-BA88C60F51C6}" srcOrd="1" destOrd="0" presId="urn:microsoft.com/office/officeart/2018/2/layout/IconCircleList"/>
    <dgm:cxn modelId="{1C7E1DB4-EEA7-4587-A567-7C569B66F42F}" type="presParOf" srcId="{0C84E3DD-EFA2-4D8A-A5F6-47AD52CE29D5}" destId="{EA4861BB-0AE3-4F63-A4A8-54097285FBC2}" srcOrd="2" destOrd="0" presId="urn:microsoft.com/office/officeart/2018/2/layout/IconCircleList"/>
    <dgm:cxn modelId="{E5B15186-F07F-46F7-8CC9-520D10782847}" type="presParOf" srcId="{EA4861BB-0AE3-4F63-A4A8-54097285FBC2}" destId="{487A5739-5B0D-4E3E-9565-F579A0B15974}" srcOrd="0" destOrd="0" presId="urn:microsoft.com/office/officeart/2018/2/layout/IconCircleList"/>
    <dgm:cxn modelId="{D5AB9486-E329-439A-B907-2B01C24E835D}" type="presParOf" srcId="{EA4861BB-0AE3-4F63-A4A8-54097285FBC2}" destId="{26715104-04FB-42CD-BC3A-2A36D7D42A79}" srcOrd="1" destOrd="0" presId="urn:microsoft.com/office/officeart/2018/2/layout/IconCircleList"/>
    <dgm:cxn modelId="{FD3A48DD-920A-40EA-A359-5E6F8E62394E}" type="presParOf" srcId="{EA4861BB-0AE3-4F63-A4A8-54097285FBC2}" destId="{512D5999-AA65-4D38-A676-9F1CE0E58FC3}" srcOrd="2" destOrd="0" presId="urn:microsoft.com/office/officeart/2018/2/layout/IconCircleList"/>
    <dgm:cxn modelId="{F17526AF-BEF7-4B58-B8AD-23FFE95C0498}" type="presParOf" srcId="{EA4861BB-0AE3-4F63-A4A8-54097285FBC2}" destId="{11656BF5-2576-4EA2-BCD9-CE0DAFE4EFE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11EED6-354A-48B0-9EBA-AAF8C16DF3C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86857D-68E3-4776-9176-9B3C29A5A1A9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b="1" dirty="0"/>
            <a:t>Integración de Datos Automática</a:t>
          </a:r>
          <a:endParaRPr lang="en-US" b="1" dirty="0"/>
        </a:p>
      </dgm:t>
    </dgm:pt>
    <dgm:pt modelId="{C0D0C9C7-A4AB-4334-A996-C85E3380F802}" type="parTrans" cxnId="{72031AB8-4FD9-4CDF-8842-56E12FA58639}">
      <dgm:prSet/>
      <dgm:spPr/>
      <dgm:t>
        <a:bodyPr/>
        <a:lstStyle/>
        <a:p>
          <a:endParaRPr lang="en-US"/>
        </a:p>
      </dgm:t>
    </dgm:pt>
    <dgm:pt modelId="{CC4A44BD-2BA1-4E87-B6F8-D6728CF0EC46}" type="sibTrans" cxnId="{72031AB8-4FD9-4CDF-8842-56E12FA58639}">
      <dgm:prSet/>
      <dgm:spPr/>
      <dgm:t>
        <a:bodyPr/>
        <a:lstStyle/>
        <a:p>
          <a:endParaRPr lang="en-US"/>
        </a:p>
      </dgm:t>
    </dgm:pt>
    <dgm:pt modelId="{4B62D6DA-1793-4C3A-80BB-57E20E9CABF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Diagnóstico Analítico Preciso</a:t>
          </a:r>
          <a:endParaRPr lang="en-US" dirty="0"/>
        </a:p>
      </dgm:t>
    </dgm:pt>
    <dgm:pt modelId="{C7F0AFCB-6DCD-4620-8F85-CD699CF41487}" type="parTrans" cxnId="{A1C10E7F-7893-4606-87C2-538A6484492D}">
      <dgm:prSet/>
      <dgm:spPr/>
      <dgm:t>
        <a:bodyPr/>
        <a:lstStyle/>
        <a:p>
          <a:endParaRPr lang="en-US"/>
        </a:p>
      </dgm:t>
    </dgm:pt>
    <dgm:pt modelId="{617A729C-6C6E-466B-B1BE-716B68F64C70}" type="sibTrans" cxnId="{A1C10E7F-7893-4606-87C2-538A6484492D}">
      <dgm:prSet/>
      <dgm:spPr/>
      <dgm:t>
        <a:bodyPr/>
        <a:lstStyle/>
        <a:p>
          <a:endParaRPr lang="en-US"/>
        </a:p>
      </dgm:t>
    </dgm:pt>
    <dgm:pt modelId="{A14C3A7D-EE4B-4807-B1A6-0BF6AF9B481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 </a:t>
          </a:r>
          <a:r>
            <a:rPr lang="es-ES" b="1" dirty="0"/>
            <a:t>Capacidad Predictiva Validada</a:t>
          </a:r>
          <a:endParaRPr lang="en-US" dirty="0"/>
        </a:p>
      </dgm:t>
    </dgm:pt>
    <dgm:pt modelId="{154D6994-48E4-4ECE-BB2A-FC46ACB4F5CD}" type="parTrans" cxnId="{01AFC29D-570B-49EF-B3D0-2C61EEFA06A4}">
      <dgm:prSet/>
      <dgm:spPr/>
      <dgm:t>
        <a:bodyPr/>
        <a:lstStyle/>
        <a:p>
          <a:endParaRPr lang="en-US"/>
        </a:p>
      </dgm:t>
    </dgm:pt>
    <dgm:pt modelId="{F3309C21-5A4F-44D4-AB77-E857D87D5B6B}" type="sibTrans" cxnId="{01AFC29D-570B-49EF-B3D0-2C61EEFA06A4}">
      <dgm:prSet/>
      <dgm:spPr/>
      <dgm:t>
        <a:bodyPr/>
        <a:lstStyle/>
        <a:p>
          <a:endParaRPr lang="en-US"/>
        </a:p>
      </dgm:t>
    </dgm:pt>
    <dgm:pt modelId="{5793C64D-2833-47EB-B021-E467897C5BED}" type="pres">
      <dgm:prSet presAssocID="{0611EED6-354A-48B0-9EBA-AAF8C16DF3CE}" presName="root" presStyleCnt="0">
        <dgm:presLayoutVars>
          <dgm:dir/>
          <dgm:resizeHandles val="exact"/>
        </dgm:presLayoutVars>
      </dgm:prSet>
      <dgm:spPr/>
    </dgm:pt>
    <dgm:pt modelId="{C5F70FF0-1337-4DDB-940C-8F760961DEF4}" type="pres">
      <dgm:prSet presAssocID="{8686857D-68E3-4776-9176-9B3C29A5A1A9}" presName="compNode" presStyleCnt="0"/>
      <dgm:spPr/>
    </dgm:pt>
    <dgm:pt modelId="{1C24E536-DCB5-4959-824C-681D88B8531E}" type="pres">
      <dgm:prSet presAssocID="{8686857D-68E3-4776-9176-9B3C29A5A1A9}" presName="bgRect" presStyleLbl="bgShp" presStyleIdx="0" presStyleCnt="3" custLinFactNeighborX="1242" custLinFactNeighborY="-43"/>
      <dgm:spPr/>
    </dgm:pt>
    <dgm:pt modelId="{0CE20D9D-98DD-4665-9125-A8EEFEE3447E}" type="pres">
      <dgm:prSet presAssocID="{8686857D-68E3-4776-9176-9B3C29A5A1A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F8E981AC-CC77-44BD-826B-E3F38A1346B1}" type="pres">
      <dgm:prSet presAssocID="{8686857D-68E3-4776-9176-9B3C29A5A1A9}" presName="spaceRect" presStyleCnt="0"/>
      <dgm:spPr/>
    </dgm:pt>
    <dgm:pt modelId="{CD25401E-5ABE-47C1-9480-66D48742FEE6}" type="pres">
      <dgm:prSet presAssocID="{8686857D-68E3-4776-9176-9B3C29A5A1A9}" presName="parTx" presStyleLbl="revTx" presStyleIdx="0" presStyleCnt="3">
        <dgm:presLayoutVars>
          <dgm:chMax val="0"/>
          <dgm:chPref val="0"/>
        </dgm:presLayoutVars>
      </dgm:prSet>
      <dgm:spPr/>
    </dgm:pt>
    <dgm:pt modelId="{6B7DC271-588B-4042-BB22-0969D9F27278}" type="pres">
      <dgm:prSet presAssocID="{CC4A44BD-2BA1-4E87-B6F8-D6728CF0EC46}" presName="sibTrans" presStyleCnt="0"/>
      <dgm:spPr/>
    </dgm:pt>
    <dgm:pt modelId="{E429079A-1308-40F5-A69A-97451049A340}" type="pres">
      <dgm:prSet presAssocID="{4B62D6DA-1793-4C3A-80BB-57E20E9CABF9}" presName="compNode" presStyleCnt="0"/>
      <dgm:spPr/>
    </dgm:pt>
    <dgm:pt modelId="{33E27372-A667-429C-BBD6-3026D4E3CAE4}" type="pres">
      <dgm:prSet presAssocID="{4B62D6DA-1793-4C3A-80BB-57E20E9CABF9}" presName="bgRect" presStyleLbl="bgShp" presStyleIdx="1" presStyleCnt="3"/>
      <dgm:spPr/>
    </dgm:pt>
    <dgm:pt modelId="{629635A5-CC50-474D-8459-D44394C3A600}" type="pres">
      <dgm:prSet presAssocID="{4B62D6DA-1793-4C3A-80BB-57E20E9CAB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B3AA40EC-86FA-438D-9A9A-FDC04E357FD2}" type="pres">
      <dgm:prSet presAssocID="{4B62D6DA-1793-4C3A-80BB-57E20E9CABF9}" presName="spaceRect" presStyleCnt="0"/>
      <dgm:spPr/>
    </dgm:pt>
    <dgm:pt modelId="{CEA3373A-75B0-4F37-B968-80A0959263D9}" type="pres">
      <dgm:prSet presAssocID="{4B62D6DA-1793-4C3A-80BB-57E20E9CABF9}" presName="parTx" presStyleLbl="revTx" presStyleIdx="1" presStyleCnt="3">
        <dgm:presLayoutVars>
          <dgm:chMax val="0"/>
          <dgm:chPref val="0"/>
        </dgm:presLayoutVars>
      </dgm:prSet>
      <dgm:spPr/>
    </dgm:pt>
    <dgm:pt modelId="{D6EA925E-2759-4AEA-BA9D-CBA5F8C14B7A}" type="pres">
      <dgm:prSet presAssocID="{617A729C-6C6E-466B-B1BE-716B68F64C70}" presName="sibTrans" presStyleCnt="0"/>
      <dgm:spPr/>
    </dgm:pt>
    <dgm:pt modelId="{3B905D78-8283-45F7-A6CD-20E80BF39DD8}" type="pres">
      <dgm:prSet presAssocID="{A14C3A7D-EE4B-4807-B1A6-0BF6AF9B4812}" presName="compNode" presStyleCnt="0"/>
      <dgm:spPr/>
    </dgm:pt>
    <dgm:pt modelId="{C40CEDEF-FB91-4CEA-9056-E7092ECE2AA9}" type="pres">
      <dgm:prSet presAssocID="{A14C3A7D-EE4B-4807-B1A6-0BF6AF9B4812}" presName="bgRect" presStyleLbl="bgShp" presStyleIdx="2" presStyleCnt="3"/>
      <dgm:spPr/>
    </dgm:pt>
    <dgm:pt modelId="{7504C33A-717F-492E-8E84-5654C2A3D06C}" type="pres">
      <dgm:prSet presAssocID="{A14C3A7D-EE4B-4807-B1A6-0BF6AF9B48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cúter"/>
        </a:ext>
      </dgm:extLst>
    </dgm:pt>
    <dgm:pt modelId="{1E3EEE4C-1AE2-4307-AD34-B35F8E441DC7}" type="pres">
      <dgm:prSet presAssocID="{A14C3A7D-EE4B-4807-B1A6-0BF6AF9B4812}" presName="spaceRect" presStyleCnt="0"/>
      <dgm:spPr/>
    </dgm:pt>
    <dgm:pt modelId="{C4323FBD-49FB-452D-A7B3-F74942537FDA}" type="pres">
      <dgm:prSet presAssocID="{A14C3A7D-EE4B-4807-B1A6-0BF6AF9B48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51EA62-F65F-4B9A-BEB1-F3C67A84CC1D}" type="presOf" srcId="{4B62D6DA-1793-4C3A-80BB-57E20E9CABF9}" destId="{CEA3373A-75B0-4F37-B968-80A0959263D9}" srcOrd="0" destOrd="0" presId="urn:microsoft.com/office/officeart/2018/2/layout/IconVerticalSolidList"/>
    <dgm:cxn modelId="{326A0259-2270-4F2A-979E-7B9BDC76CADC}" type="presOf" srcId="{0611EED6-354A-48B0-9EBA-AAF8C16DF3CE}" destId="{5793C64D-2833-47EB-B021-E467897C5BED}" srcOrd="0" destOrd="0" presId="urn:microsoft.com/office/officeart/2018/2/layout/IconVerticalSolidList"/>
    <dgm:cxn modelId="{A1C10E7F-7893-4606-87C2-538A6484492D}" srcId="{0611EED6-354A-48B0-9EBA-AAF8C16DF3CE}" destId="{4B62D6DA-1793-4C3A-80BB-57E20E9CABF9}" srcOrd="1" destOrd="0" parTransId="{C7F0AFCB-6DCD-4620-8F85-CD699CF41487}" sibTransId="{617A729C-6C6E-466B-B1BE-716B68F64C70}"/>
    <dgm:cxn modelId="{01AFC29D-570B-49EF-B3D0-2C61EEFA06A4}" srcId="{0611EED6-354A-48B0-9EBA-AAF8C16DF3CE}" destId="{A14C3A7D-EE4B-4807-B1A6-0BF6AF9B4812}" srcOrd="2" destOrd="0" parTransId="{154D6994-48E4-4ECE-BB2A-FC46ACB4F5CD}" sibTransId="{F3309C21-5A4F-44D4-AB77-E857D87D5B6B}"/>
    <dgm:cxn modelId="{79FC47A6-FCC2-4BD5-8793-BEA1846935D7}" type="presOf" srcId="{A14C3A7D-EE4B-4807-B1A6-0BF6AF9B4812}" destId="{C4323FBD-49FB-452D-A7B3-F74942537FDA}" srcOrd="0" destOrd="0" presId="urn:microsoft.com/office/officeart/2018/2/layout/IconVerticalSolidList"/>
    <dgm:cxn modelId="{72031AB8-4FD9-4CDF-8842-56E12FA58639}" srcId="{0611EED6-354A-48B0-9EBA-AAF8C16DF3CE}" destId="{8686857D-68E3-4776-9176-9B3C29A5A1A9}" srcOrd="0" destOrd="0" parTransId="{C0D0C9C7-A4AB-4334-A996-C85E3380F802}" sibTransId="{CC4A44BD-2BA1-4E87-B6F8-D6728CF0EC46}"/>
    <dgm:cxn modelId="{14FD87D8-2D44-46E3-8677-CA38EE38679C}" type="presOf" srcId="{8686857D-68E3-4776-9176-9B3C29A5A1A9}" destId="{CD25401E-5ABE-47C1-9480-66D48742FEE6}" srcOrd="0" destOrd="0" presId="urn:microsoft.com/office/officeart/2018/2/layout/IconVerticalSolidList"/>
    <dgm:cxn modelId="{B723F8D3-3830-43E6-9D04-976A77FA6F43}" type="presParOf" srcId="{5793C64D-2833-47EB-B021-E467897C5BED}" destId="{C5F70FF0-1337-4DDB-940C-8F760961DEF4}" srcOrd="0" destOrd="0" presId="urn:microsoft.com/office/officeart/2018/2/layout/IconVerticalSolidList"/>
    <dgm:cxn modelId="{F212CE8A-A508-4943-B40F-B33339231824}" type="presParOf" srcId="{C5F70FF0-1337-4DDB-940C-8F760961DEF4}" destId="{1C24E536-DCB5-4959-824C-681D88B8531E}" srcOrd="0" destOrd="0" presId="urn:microsoft.com/office/officeart/2018/2/layout/IconVerticalSolidList"/>
    <dgm:cxn modelId="{7C741F1A-7D86-46EC-A79A-58C4D7B431F6}" type="presParOf" srcId="{C5F70FF0-1337-4DDB-940C-8F760961DEF4}" destId="{0CE20D9D-98DD-4665-9125-A8EEFEE3447E}" srcOrd="1" destOrd="0" presId="urn:microsoft.com/office/officeart/2018/2/layout/IconVerticalSolidList"/>
    <dgm:cxn modelId="{38429F7E-0D48-4D94-B25D-E1A4ED739200}" type="presParOf" srcId="{C5F70FF0-1337-4DDB-940C-8F760961DEF4}" destId="{F8E981AC-CC77-44BD-826B-E3F38A1346B1}" srcOrd="2" destOrd="0" presId="urn:microsoft.com/office/officeart/2018/2/layout/IconVerticalSolidList"/>
    <dgm:cxn modelId="{5B4385D6-704B-4489-9A56-B7BFBA946CA6}" type="presParOf" srcId="{C5F70FF0-1337-4DDB-940C-8F760961DEF4}" destId="{CD25401E-5ABE-47C1-9480-66D48742FEE6}" srcOrd="3" destOrd="0" presId="urn:microsoft.com/office/officeart/2018/2/layout/IconVerticalSolidList"/>
    <dgm:cxn modelId="{5A9B723B-BF40-4557-9153-993110D43C5B}" type="presParOf" srcId="{5793C64D-2833-47EB-B021-E467897C5BED}" destId="{6B7DC271-588B-4042-BB22-0969D9F27278}" srcOrd="1" destOrd="0" presId="urn:microsoft.com/office/officeart/2018/2/layout/IconVerticalSolidList"/>
    <dgm:cxn modelId="{FBF27EF4-41A1-4487-AD5A-899AEFF9AD05}" type="presParOf" srcId="{5793C64D-2833-47EB-B021-E467897C5BED}" destId="{E429079A-1308-40F5-A69A-97451049A340}" srcOrd="2" destOrd="0" presId="urn:microsoft.com/office/officeart/2018/2/layout/IconVerticalSolidList"/>
    <dgm:cxn modelId="{A092A8B6-7994-492C-9845-FC0F314403EF}" type="presParOf" srcId="{E429079A-1308-40F5-A69A-97451049A340}" destId="{33E27372-A667-429C-BBD6-3026D4E3CAE4}" srcOrd="0" destOrd="0" presId="urn:microsoft.com/office/officeart/2018/2/layout/IconVerticalSolidList"/>
    <dgm:cxn modelId="{27EB4382-2442-4F8D-865B-178BA27BF96F}" type="presParOf" srcId="{E429079A-1308-40F5-A69A-97451049A340}" destId="{629635A5-CC50-474D-8459-D44394C3A600}" srcOrd="1" destOrd="0" presId="urn:microsoft.com/office/officeart/2018/2/layout/IconVerticalSolidList"/>
    <dgm:cxn modelId="{B76B0D1C-BBB0-417C-A7C4-F13D55B96A32}" type="presParOf" srcId="{E429079A-1308-40F5-A69A-97451049A340}" destId="{B3AA40EC-86FA-438D-9A9A-FDC04E357FD2}" srcOrd="2" destOrd="0" presId="urn:microsoft.com/office/officeart/2018/2/layout/IconVerticalSolidList"/>
    <dgm:cxn modelId="{E2BF2403-0CC6-49F7-AC9A-7855BB21CF87}" type="presParOf" srcId="{E429079A-1308-40F5-A69A-97451049A340}" destId="{CEA3373A-75B0-4F37-B968-80A0959263D9}" srcOrd="3" destOrd="0" presId="urn:microsoft.com/office/officeart/2018/2/layout/IconVerticalSolidList"/>
    <dgm:cxn modelId="{75145EB0-A092-4E2D-B64E-5129EDD19C98}" type="presParOf" srcId="{5793C64D-2833-47EB-B021-E467897C5BED}" destId="{D6EA925E-2759-4AEA-BA9D-CBA5F8C14B7A}" srcOrd="3" destOrd="0" presId="urn:microsoft.com/office/officeart/2018/2/layout/IconVerticalSolidList"/>
    <dgm:cxn modelId="{64BA2457-5081-44E7-A792-DDE000027AB9}" type="presParOf" srcId="{5793C64D-2833-47EB-B021-E467897C5BED}" destId="{3B905D78-8283-45F7-A6CD-20E80BF39DD8}" srcOrd="4" destOrd="0" presId="urn:microsoft.com/office/officeart/2018/2/layout/IconVerticalSolidList"/>
    <dgm:cxn modelId="{CEBD91EA-95D8-4809-9C36-58A21EA3863E}" type="presParOf" srcId="{3B905D78-8283-45F7-A6CD-20E80BF39DD8}" destId="{C40CEDEF-FB91-4CEA-9056-E7092ECE2AA9}" srcOrd="0" destOrd="0" presId="urn:microsoft.com/office/officeart/2018/2/layout/IconVerticalSolidList"/>
    <dgm:cxn modelId="{DD9151F3-6DBF-4395-BDCA-D73C73255CA7}" type="presParOf" srcId="{3B905D78-8283-45F7-A6CD-20E80BF39DD8}" destId="{7504C33A-717F-492E-8E84-5654C2A3D06C}" srcOrd="1" destOrd="0" presId="urn:microsoft.com/office/officeart/2018/2/layout/IconVerticalSolidList"/>
    <dgm:cxn modelId="{914873EB-B68D-4102-A669-76A73654B6B6}" type="presParOf" srcId="{3B905D78-8283-45F7-A6CD-20E80BF39DD8}" destId="{1E3EEE4C-1AE2-4307-AD34-B35F8E441DC7}" srcOrd="2" destOrd="0" presId="urn:microsoft.com/office/officeart/2018/2/layout/IconVerticalSolidList"/>
    <dgm:cxn modelId="{6FB9172F-A197-4DF2-8C33-8780B8C04CB6}" type="presParOf" srcId="{3B905D78-8283-45F7-A6CD-20E80BF39DD8}" destId="{C4323FBD-49FB-452D-A7B3-F74942537F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A6F56-DFAC-40A9-AE6A-1FC181676E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78A45-8EFC-49AD-9168-C1054AE41600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Problema: Volatilidad del Precio Spot en Colombia, impulsada por la dependencia hídrica.</a:t>
          </a:r>
          <a:endParaRPr lang="en-US" sz="3000" kern="1200"/>
        </a:p>
      </dsp:txBody>
      <dsp:txXfrm>
        <a:off x="608661" y="692298"/>
        <a:ext cx="4508047" cy="2799040"/>
      </dsp:txXfrm>
    </dsp:sp>
    <dsp:sp modelId="{0505BAE8-9499-41FC-B57D-9910A08350F5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77BB4-90CA-42C9-9FAD-5A7ABC388FCB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Objetivos: 1. Analizar el Precio Spot vs. Embalses. 2. Comparar la volatilidad con Europa. 3. Desarrollar un modelo predictivo base (ML).</a:t>
          </a:r>
          <a:endParaRPr lang="en-US" sz="30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B8FF0-E45F-4C00-933E-88FE745D30D2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6CC5FD-A041-436F-B80A-4B317302A5B7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26A92-2BD0-4C9B-9FFA-30273817C5AF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Precio Spot (Bolsa):</a:t>
          </a:r>
          <a:r>
            <a:rPr lang="es-ES" sz="2500" kern="1200" dirty="0"/>
            <a:t> El valor marginal fijado por la última planta de generación despachada .</a:t>
          </a:r>
          <a:endParaRPr lang="en-US" sz="2500" kern="1200" dirty="0"/>
        </a:p>
      </dsp:txBody>
      <dsp:txXfrm>
        <a:off x="1507738" y="707092"/>
        <a:ext cx="9007861" cy="1305401"/>
      </dsp:txXfrm>
    </dsp:sp>
    <dsp:sp modelId="{40A15B43-108C-4571-B637-B0AC8C5F79FD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4A752-0534-4A48-AC52-746AF4B62115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D29D8-5496-4D46-83DF-56046112EA88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/>
            <a:t>Factor Crítico:</a:t>
          </a:r>
          <a:r>
            <a:rPr lang="es-ES" sz="2500" kern="1200"/>
            <a:t> La matriz colombiana es +65% hidráulica, generando una alta vulnerabilidad al clima</a:t>
          </a:r>
          <a:endParaRPr lang="en-US" sz="2500" kern="1200"/>
        </a:p>
      </dsp:txBody>
      <dsp:txXfrm>
        <a:off x="1507738" y="2338844"/>
        <a:ext cx="900786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21BF1-61D3-4C38-BE33-233D677DA87E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2515F-B31B-4958-A766-83DEB66A9EA2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Adquisición: Uso de </a:t>
          </a:r>
          <a:r>
            <a:rPr lang="es-ES" sz="1500" kern="1200" dirty="0" err="1"/>
            <a:t>requests</a:t>
          </a:r>
          <a:r>
            <a:rPr lang="es-ES" sz="1500" kern="1200" dirty="0"/>
            <a:t> para obtener datos de </a:t>
          </a:r>
          <a:r>
            <a:rPr lang="es-ES" sz="1500" kern="1200" dirty="0" err="1"/>
            <a:t>APIs</a:t>
          </a:r>
          <a:r>
            <a:rPr lang="es-ES" sz="1500" kern="1200" dirty="0"/>
            <a:t> y fuentes públicas (SIMEM , </a:t>
          </a:r>
          <a:r>
            <a:rPr lang="es-ES" sz="1500" kern="1200" dirty="0" err="1"/>
            <a:t>Sinergox</a:t>
          </a:r>
          <a:r>
            <a:rPr lang="es-ES" sz="1500" kern="1200" dirty="0"/>
            <a:t>, Nord Pool, EPEX SPOT) .</a:t>
          </a:r>
          <a:endParaRPr lang="en-US" sz="1500" kern="1200" dirty="0"/>
        </a:p>
      </dsp:txBody>
      <dsp:txXfrm>
        <a:off x="559800" y="3022743"/>
        <a:ext cx="4320000" cy="720000"/>
      </dsp:txXfrm>
    </dsp:sp>
    <dsp:sp modelId="{25A9E0B2-E7F1-4751-A2C4-71BC7BB0263D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3B7EA-A40B-422B-AE9F-3C6BD1FF2E2A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Procesamiento: Unificación de series por fecha, cálculo del Nivel Agregado de Embalses y conversión de COP a EUR.</a:t>
          </a:r>
          <a:endParaRPr lang="en-US" sz="1500" kern="1200"/>
        </a:p>
      </dsp:txBody>
      <dsp:txXfrm>
        <a:off x="5635800" y="3022743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55202-4353-46FF-B001-25A30AC57285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0B390-3081-47BC-9E58-0EB48042CE24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B23D8-E91B-46CF-8F46-7A4FF432B462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Objetivo: Predecir el Precio Spot Diario para establecer un punto de </a:t>
          </a:r>
          <a:r>
            <a:rPr lang="es-ES" sz="1700" kern="1200" dirty="0" err="1"/>
            <a:t>referenncia</a:t>
          </a:r>
          <a:r>
            <a:rPr lang="es-ES" sz="1700" kern="1200" dirty="0"/>
            <a:t>. </a:t>
          </a:r>
          <a:endParaRPr lang="en-US" sz="1700" kern="1200" dirty="0"/>
        </a:p>
      </dsp:txBody>
      <dsp:txXfrm>
        <a:off x="1834517" y="1507711"/>
        <a:ext cx="3148942" cy="1335915"/>
      </dsp:txXfrm>
    </dsp:sp>
    <dsp:sp modelId="{487A5739-5B0D-4E3E-9565-F579A0B15974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15104-04FB-42CD-BC3A-2A36D7D42A79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56BF5-2576-4EA2-BCD9-CE0DAFE4EFEC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Modelo: Regresión Lineal (</a:t>
          </a:r>
          <a:r>
            <a:rPr lang="es-ES" sz="1700" kern="1200" dirty="0" err="1"/>
            <a:t>scikit-learn</a:t>
          </a:r>
          <a:r>
            <a:rPr lang="es-ES" sz="1700" kern="1200" dirty="0"/>
            <a:t>). </a:t>
          </a:r>
          <a:r>
            <a:rPr lang="es-ES" sz="1700" kern="1200" dirty="0" err="1"/>
            <a:t>Features</a:t>
          </a:r>
          <a:r>
            <a:rPr lang="es-ES" sz="1700" kern="1200" dirty="0"/>
            <a:t> Críticas: Precio del día anterior (Inercia) y Nivel de Embalses del día anterior (Restricción).</a:t>
          </a:r>
          <a:endParaRPr lang="en-US" sz="1700" kern="1200" dirty="0"/>
        </a:p>
      </dsp:txBody>
      <dsp:txXfrm>
        <a:off x="7154322" y="1507711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4E536-DCB5-4959-824C-681D88B8531E}">
      <dsp:nvSpPr>
        <dsp:cNvPr id="0" name=""/>
        <dsp:cNvSpPr/>
      </dsp:nvSpPr>
      <dsp:spPr>
        <a:xfrm>
          <a:off x="0" y="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20D9D-98DD-4665-9125-A8EEFEE3447E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5401E-5ABE-47C1-9480-66D48742FEE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b="1" kern="1200" dirty="0"/>
            <a:t>Integración de Datos Automática</a:t>
          </a:r>
          <a:endParaRPr lang="en-US" sz="2500" b="1" kern="1200" dirty="0"/>
        </a:p>
      </dsp:txBody>
      <dsp:txXfrm>
        <a:off x="1435590" y="531"/>
        <a:ext cx="9080009" cy="1242935"/>
      </dsp:txXfrm>
    </dsp:sp>
    <dsp:sp modelId="{33E27372-A667-429C-BBD6-3026D4E3CAE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9635A5-CC50-474D-8459-D44394C3A60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3373A-75B0-4F37-B968-80A0959263D9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 dirty="0"/>
            <a:t>Diagnóstico Analítico Preciso</a:t>
          </a:r>
          <a:endParaRPr lang="en-US" sz="2500" kern="1200" dirty="0"/>
        </a:p>
      </dsp:txBody>
      <dsp:txXfrm>
        <a:off x="1435590" y="1554201"/>
        <a:ext cx="9080009" cy="1242935"/>
      </dsp:txXfrm>
    </dsp:sp>
    <dsp:sp modelId="{C40CEDEF-FB91-4CEA-9056-E7092ECE2AA9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4C33A-717F-492E-8E84-5654C2A3D06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23FBD-49FB-452D-A7B3-F74942537FD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 </a:t>
          </a:r>
          <a:r>
            <a:rPr lang="es-ES" sz="2500" b="1" kern="1200" dirty="0"/>
            <a:t>Capacidad Predictiva Validada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9E946-C05A-3C79-4335-7666DD1BA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44DAF6-47A6-2109-2654-6AB20675A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243475-DE6B-6909-4587-E976C39D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39AC1E-223F-7447-087A-DB009234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95D687-4ABC-BB6B-9408-3A5BE380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541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09265-09AF-4F34-5170-D1F09F51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DD4A77-51C7-8239-FC3F-433C9CCF7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93C07D-D9B3-EB95-A305-396431051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71E37-6B5E-3DF5-B51A-4FFDDE45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1BABF1-C3F6-D60D-F622-55E5272A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766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FBD10-B697-AE3B-2DA2-9EC81B20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3543B4-514E-CC83-EF73-3180B29A7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642F23-74A9-A609-BFE1-E5F39A82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25BBA9-FA6C-163E-5576-6FBB9C1F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12287A-E8E9-62F5-D5AD-2BDB37CE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930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27730-571A-6685-14AF-5ECC35C2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DD4F44-49A8-9169-DD78-B968F3B23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E8BC05-9C59-EAEA-3680-F732E16EF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B89D1E-87B6-E875-3981-6E7220DF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251B74-AD8B-4C94-49C6-9DA4843FD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66F666-DF8C-1349-770B-E7D3E728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869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77E42-58FB-DA34-36D9-FECB6E92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2006F4-3C1C-0C29-2D3F-A85976575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2AF406-58AE-E4AE-DE79-04F9FB4B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CF67C5-3D1F-5F7D-1113-5E912CDF3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B0A6D4-2098-4CFE-2957-DAE0E8DE8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4010B8-883D-C559-6A4A-E556CF35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230BB0-E661-DE1F-D7C7-4B490B0E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92A1F7-9F1D-DA00-2670-57369070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36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99DD1-2B71-B5B7-3E72-26F734F4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DD88B3-54A9-0506-FAF4-B35ECC9F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F7A840-69EF-6AD0-D57E-3044859A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86A875-79DF-D807-0116-51A1ED3B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427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2DE30D4-485A-6B98-EE58-05B3C2E0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7D86E7-6CA3-CE1B-CB1B-77F6BD68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FCB95-D385-8607-F467-6C4350A1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822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E3BD0-707F-1740-1B43-FE99B218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D4BA4-9DA8-843D-71FE-33E8EC932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E80593-F16A-085F-31F0-9EFA8197B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84BFD4-1484-2570-73A4-B11B2AC6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8651E8-0D4A-3D2E-724C-DED71649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ADA699-CC21-2A00-A9E7-2AE10318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17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4A7F-23D0-2973-8FCA-D6A5A6D1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70DFE5-5549-9F0D-A633-3B4B75462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B14D0E-7493-D89F-30E0-2D7E19043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36F3A1-7734-F7A2-6CBB-38C73B43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12DEF4-606E-BADD-617F-36B345CE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54A6E2-0507-3D41-B0C1-A846D149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691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76243-2104-A0AE-CD60-33B07ACE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0234B6-65E7-9986-4F81-1C6EBC5DE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B8030B-4F0C-9A47-BFCA-60B27E5C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2AC794-77F3-B052-C4D9-202399B7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4D87B9-65D7-2112-9A20-AD51BF6A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0981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33723E-10DC-32F6-7AD3-4EA48BE40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B85EF7-79EF-1AA2-ED07-1D64012D0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D6E84-48CB-EEF9-3F4C-F38ED56B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195FCB-9BBD-51E4-1094-5A06CB2A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549919-8217-7A9D-08D8-0E0FA8C0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065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3B8D1E-9729-8FB5-3A56-4193BD2E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7640E5-B9E7-6FAE-4502-9FDAB4988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E15F80-AAD1-BAD2-51F2-9620C12FD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D8678-051F-4072-9F2D-77D233AB534C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F34B75-261F-7F6B-E37A-B85F71227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2A1-BFF5-25CC-E4A9-531354C29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B3848-E42E-4867-8371-BC4BA264F3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651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E33215-28A5-BB98-8E9E-852CE1A25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800" b="1" dirty="0">
                <a:solidFill>
                  <a:schemeClr val="bg1"/>
                </a:solidFill>
              </a:rPr>
              <a:t>Análisis del Mercado Energético Colombiano y Predicción de Precios</a:t>
            </a:r>
            <a:br>
              <a:rPr lang="es-ES" sz="4800" b="1" dirty="0"/>
            </a:br>
            <a:endParaRPr lang="es-CO" sz="4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D89796-B7F6-22AA-0E75-5541B46E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s-CO" dirty="0"/>
              <a:t>JESÚS DAVID MONTES CORREA </a:t>
            </a:r>
          </a:p>
          <a:p>
            <a:pPr algn="l"/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E369A3D-F847-3E8A-3A79-3D94412EFD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073" y="5847416"/>
            <a:ext cx="2968625" cy="7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3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BD2B7E-77C3-8D34-908F-CD9C2F77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CO" sz="4000">
                <a:solidFill>
                  <a:srgbClr val="FFFFFF"/>
                </a:solidFill>
              </a:rPr>
              <a:t>Introducción y Objetivos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9269B55-B9D2-0197-6BBE-21D31B531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1096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820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11BD5-4897-C616-C463-F5C3F43A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El Precio Marginal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AEE443C-909E-64C7-BA3B-3F5295D98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0839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96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CE5635-302B-BA36-2B58-C6FA294E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-144312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CO" sz="4000" dirty="0">
                <a:solidFill>
                  <a:srgbClr val="FFFFFF"/>
                </a:solidFill>
              </a:rPr>
              <a:t>Embalses vs. Precio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FB6A2C-75CC-A5A1-BB60-851416C027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34202" y="-801887"/>
                <a:ext cx="6322270" cy="4933016"/>
              </a:xfrm>
            </p:spPr>
            <p:txBody>
              <a:bodyPr anchor="ctr">
                <a:normAutofit/>
              </a:bodyPr>
              <a:lstStyle/>
              <a:p>
                <a:r>
                  <a:rPr lang="es-ES" sz="2000" dirty="0"/>
                  <a:t>La disponibilidad hídrica es el factor de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s-ES" sz="2000" i="1" smtClean="0">
                        <a:latin typeface="Cambria Math" panose="02040503050406030204" pitchFamily="18" charset="0"/>
                      </a:rPr>
                      <a:t>Escribe aquí la ecuación.</a:t>
                    </a:fld>
                  </m:oMath>
                </a14:m>
                <a:r>
                  <a:rPr lang="es-ES" sz="2000" dirty="0"/>
                  <a:t> presión más grande. Mecanismo: Sequía (El Niño)               Embalses Bajos             Se activan Térmicas (Más Caras)                  Precio Spot ALTO.</a:t>
                </a:r>
              </a:p>
              <a:p>
                <a:endParaRPr lang="es-CO" sz="20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FB6A2C-75CC-A5A1-BB60-851416C02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34202" y="-801887"/>
                <a:ext cx="6322270" cy="4933016"/>
              </a:xfrm>
              <a:blipFill>
                <a:blip r:embed="rId2"/>
                <a:stretch>
                  <a:fillRect l="-86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DF2247C-276A-1931-21FF-9AFBF4DD6F90}"/>
              </a:ext>
            </a:extLst>
          </p:cNvPr>
          <p:cNvCxnSpPr/>
          <p:nvPr/>
        </p:nvCxnSpPr>
        <p:spPr>
          <a:xfrm>
            <a:off x="5943600" y="1617852"/>
            <a:ext cx="544643" cy="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47814FD-C966-5FD4-0BBA-6D9B8A7F6A33}"/>
              </a:ext>
            </a:extLst>
          </p:cNvPr>
          <p:cNvCxnSpPr/>
          <p:nvPr/>
        </p:nvCxnSpPr>
        <p:spPr>
          <a:xfrm>
            <a:off x="8468907" y="1617852"/>
            <a:ext cx="544643" cy="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62415E6-A69E-DBC6-7D8B-1E5B1584D808}"/>
              </a:ext>
            </a:extLst>
          </p:cNvPr>
          <p:cNvCxnSpPr/>
          <p:nvPr/>
        </p:nvCxnSpPr>
        <p:spPr>
          <a:xfrm>
            <a:off x="7483589" y="1944372"/>
            <a:ext cx="544643" cy="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utoShape 7">
            <a:extLst>
              <a:ext uri="{FF2B5EF4-FFF2-40B4-BE49-F238E27FC236}">
                <a16:creationId xmlns:a16="http://schemas.microsoft.com/office/drawing/2014/main" id="{5CCE2FB5-E558-8E3E-7AE6-BDC99087B7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820886" cy="382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109E45F-273F-4FE0-17E2-15B904C2A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081" y="2122714"/>
            <a:ext cx="6023490" cy="47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7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F07C4-FF9C-9D92-A067-B74292F4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Adquisición y Pipeline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01D8CBA-EB03-4899-1FD5-C0D46B299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700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28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9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F12FE0-6487-BD37-D193-91DE0CCD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10895"/>
            <a:ext cx="4889190" cy="2121408"/>
          </a:xfrm>
        </p:spPr>
        <p:txBody>
          <a:bodyPr anchor="ctr">
            <a:normAutofit/>
          </a:bodyPr>
          <a:lstStyle/>
          <a:p>
            <a:r>
              <a:rPr lang="es-ES" sz="4000"/>
              <a:t>La Volatilidad Interna de Colombia</a:t>
            </a:r>
            <a:endParaRPr lang="es-CO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2C045-27F8-6BA0-5647-023CEE77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8878" y="310896"/>
            <a:ext cx="5257800" cy="2121407"/>
          </a:xfrm>
        </p:spPr>
        <p:txBody>
          <a:bodyPr anchor="ctr">
            <a:normAutofit/>
          </a:bodyPr>
          <a:lstStyle/>
          <a:p>
            <a:r>
              <a:rPr lang="es-ES" sz="2000"/>
              <a:t>Análisis: El precio spot colombiano (en COP/kWh) muestra picos abruptos y ciclos claros que reflejan eventos hidrológicos. Destacar el pico más alto en la gráfica.</a:t>
            </a:r>
            <a:endParaRPr lang="es-CO" sz="200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1FA1F1C-8119-4060-B6D6-CF2E8DD12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62"/>
          <a:stretch>
            <a:fillRect/>
          </a:stretch>
        </p:blipFill>
        <p:spPr bwMode="auto">
          <a:xfrm>
            <a:off x="20" y="2743201"/>
            <a:ext cx="12191979" cy="4114799"/>
          </a:xfrm>
          <a:prstGeom prst="rect">
            <a:avLst/>
          </a:prstGeom>
          <a:noFill/>
          <a:effectLst>
            <a:innerShdw blurRad="190500" dist="127000" dir="16200000">
              <a:prstClr val="black">
                <a:alpha val="19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28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F645CED-A96B-2FC7-E010-751CAE8F0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844323"/>
            <a:ext cx="11325225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49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476A95-744B-0196-647B-7D878BB1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25195"/>
            <a:ext cx="3986155" cy="2806506"/>
          </a:xfrm>
        </p:spPr>
        <p:txBody>
          <a:bodyPr anchor="b">
            <a:normAutofit/>
          </a:bodyPr>
          <a:lstStyle/>
          <a:p>
            <a:r>
              <a:rPr lang="es-ES" sz="4000"/>
              <a:t>El Contraste con Mercados Europeos</a:t>
            </a:r>
            <a:endParaRPr lang="es-CO" sz="400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CD4F6FD-C9A8-9073-6473-ED0771B1E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189"/>
          <a:stretch>
            <a:fillRect/>
          </a:stretch>
        </p:blipFill>
        <p:spPr bwMode="auto">
          <a:xfrm>
            <a:off x="5186554" y="163646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E84A1B-952D-208C-4734-A7485C28D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5" y="3526300"/>
            <a:ext cx="3986155" cy="2588458"/>
          </a:xfrm>
        </p:spPr>
        <p:txBody>
          <a:bodyPr>
            <a:normAutofit/>
          </a:bodyPr>
          <a:lstStyle/>
          <a:p>
            <a:r>
              <a:rPr lang="es-ES" sz="2000" dirty="0"/>
              <a:t>Noruega: Precios bajos y estables (matriz hídrica), aunque con un alza por interconexión.</a:t>
            </a:r>
          </a:p>
          <a:p>
            <a:r>
              <a:rPr lang="es-ES" sz="2000" dirty="0"/>
              <a:t> Alemania/Francia: Precios altos y volatilidad extrema, ligados a costos de gas y CO .</a:t>
            </a:r>
            <a:endParaRPr lang="es-CO" sz="2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EAE76C-1ACE-A0BA-8FF9-3459E3460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5" r="7394" b="-2"/>
          <a:stretch>
            <a:fillRect/>
          </a:stretch>
        </p:blipFill>
        <p:spPr bwMode="auto">
          <a:xfrm>
            <a:off x="5186554" y="2956875"/>
            <a:ext cx="6806703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83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47A5978F-A192-7850-DADC-629BF98AE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258" y="36121"/>
            <a:ext cx="9151484" cy="357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1004B38B-AACA-57C5-9053-35C5817B0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258" y="2951266"/>
            <a:ext cx="9009289" cy="352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336736C-05DF-F46F-D23C-212A61ACC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3849"/>
            <a:ext cx="12192000" cy="456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40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BBEB67-B259-7697-6002-F2EAC772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10895"/>
            <a:ext cx="4889190" cy="2121408"/>
          </a:xfrm>
        </p:spPr>
        <p:txBody>
          <a:bodyPr anchor="ctr">
            <a:normAutofit/>
          </a:bodyPr>
          <a:lstStyle/>
          <a:p>
            <a:r>
              <a:rPr lang="es-CO" sz="4000"/>
              <a:t>Colombia está "Desacoplada" Globalmente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5E944-E2E8-6877-69E4-C0F5622F4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8878" y="310896"/>
            <a:ext cx="5257800" cy="2121407"/>
          </a:xfrm>
        </p:spPr>
        <p:txBody>
          <a:bodyPr anchor="ctr">
            <a:normAutofit/>
          </a:bodyPr>
          <a:lstStyle/>
          <a:p>
            <a:r>
              <a:rPr lang="es-ES" sz="2000"/>
              <a:t>Análisis Clave: </a:t>
            </a:r>
          </a:p>
          <a:p>
            <a:pPr marL="0" indent="0">
              <a:buNone/>
            </a:pPr>
            <a:r>
              <a:rPr lang="es-ES" sz="2000"/>
              <a:t>La volatilidad colombiana NO sigue el rally de precios europeo (que es geopolítico). Los picos de Colombia son un fenómeno local/hidrológico. Esto subraya la diferencia estructural de los mercados.</a:t>
            </a:r>
            <a:endParaRPr lang="es-CO" sz="200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830939D-8C35-A277-D51C-D2907C637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0" b="4070"/>
          <a:stretch>
            <a:fillRect/>
          </a:stretch>
        </p:blipFill>
        <p:spPr bwMode="auto">
          <a:xfrm>
            <a:off x="20" y="2743201"/>
            <a:ext cx="12191979" cy="4114799"/>
          </a:xfrm>
          <a:prstGeom prst="rect">
            <a:avLst/>
          </a:prstGeom>
          <a:noFill/>
          <a:effectLst>
            <a:innerShdw blurRad="190500" dist="127000" dir="16200000">
              <a:prstClr val="black">
                <a:alpha val="19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448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D8D1480-019C-A380-08D4-725C4906A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4477"/>
            <a:ext cx="12192000" cy="456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295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19BB4D-C375-475A-0E65-093D918D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10895"/>
            <a:ext cx="4889190" cy="2121408"/>
          </a:xfrm>
        </p:spPr>
        <p:txBody>
          <a:bodyPr anchor="ctr">
            <a:normAutofit/>
          </a:bodyPr>
          <a:lstStyle/>
          <a:p>
            <a:r>
              <a:rPr lang="es-ES" sz="4000"/>
              <a:t>Prueba de la Hipótesis - La Correlación</a:t>
            </a:r>
            <a:endParaRPr lang="es-CO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27A666-28E7-8843-DD45-250040DD4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8878" y="310896"/>
            <a:ext cx="5257800" cy="2121407"/>
          </a:xfrm>
        </p:spPr>
        <p:txBody>
          <a:bodyPr anchor="ctr">
            <a:normAutofit/>
          </a:bodyPr>
          <a:lstStyle/>
          <a:p>
            <a:r>
              <a:rPr lang="es-ES" sz="2000" dirty="0"/>
              <a:t>Prueba: La gráfica de doble eje valida la hipótesis. Cuando el nivel de Embalses (Azul) baja, el Precio Spot (Rojo) sube. </a:t>
            </a:r>
          </a:p>
          <a:p>
            <a:r>
              <a:rPr lang="es-ES" sz="2000" dirty="0"/>
              <a:t>Métrica: Correlación de Pearson = [Valor de la Correlación] (Fuerte correlación inversa) .</a:t>
            </a:r>
          </a:p>
          <a:p>
            <a:endParaRPr lang="es-CO" sz="20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C9F8F98-8303-AEB4-1E85-24665F44D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6"/>
          <a:stretch>
            <a:fillRect/>
          </a:stretch>
        </p:blipFill>
        <p:spPr bwMode="auto">
          <a:xfrm>
            <a:off x="20" y="2743201"/>
            <a:ext cx="12191979" cy="4114799"/>
          </a:xfrm>
          <a:prstGeom prst="rect">
            <a:avLst/>
          </a:prstGeom>
          <a:noFill/>
          <a:effectLst>
            <a:innerShdw blurRad="190500" dist="127000" dir="16200000">
              <a:prstClr val="black">
                <a:alpha val="19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896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2D46DAC-92F6-13C6-7289-EB4E0A0A6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925"/>
            <a:ext cx="1219200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774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1CFE6-895B-2052-DF46-06AD1C37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Predicción: Configuración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8193099-A8A0-1FEE-D9D1-A506F079D0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0438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4214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705E18-06D6-4524-5B4E-600C1115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La Predicción vs. la Realidad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116AF1-3199-A536-EEFC-1D7F8893A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tx2"/>
                </a:solidFill>
              </a:rPr>
              <a:t>Análisis: El modelo es robusto para la tendencia general, demostrando que los features seleccionados son altamente relevantes. </a:t>
            </a:r>
          </a:p>
          <a:p>
            <a:pPr marL="0" indent="0">
              <a:buNone/>
            </a:pPr>
            <a:r>
              <a:rPr lang="es-ES" sz="1800">
                <a:solidFill>
                  <a:schemeClr val="tx2"/>
                </a:solidFill>
              </a:rPr>
              <a:t>Métricas Clave: RMSE: [Valor de RMSE] COP/kWh</a:t>
            </a:r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do">
            <a:extLst>
              <a:ext uri="{FF2B5EF4-FFF2-40B4-BE49-F238E27FC236}">
                <a16:creationId xmlns:a16="http://schemas.microsoft.com/office/drawing/2014/main" id="{8B709AD9-3855-309F-750F-54DD21C9F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37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60643-0563-C5C0-0B1E-756B2A25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/>
              <a:t>Conclusiones</a:t>
            </a:r>
            <a:endParaRPr lang="es-CO" dirty="0"/>
          </a:p>
        </p:txBody>
      </p:sp>
      <p:graphicFrame>
        <p:nvGraphicFramePr>
          <p:cNvPr id="13" name="Marcador de contenido 2">
            <a:extLst>
              <a:ext uri="{FF2B5EF4-FFF2-40B4-BE49-F238E27FC236}">
                <a16:creationId xmlns:a16="http://schemas.microsoft.com/office/drawing/2014/main" id="{7FEBC29C-682D-CAD1-6145-E4722194E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2082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604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B0EB2C-91C8-3F6B-5388-0C1D922B5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067" y="1522988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tx2"/>
                </a:solidFill>
              </a:rPr>
              <a:t>Gracias Por Su Atención</a:t>
            </a:r>
            <a:endParaRPr lang="es-CO" sz="7200" dirty="0">
              <a:solidFill>
                <a:schemeClr val="tx2"/>
              </a:solidFill>
            </a:endParaRPr>
          </a:p>
        </p:txBody>
      </p:sp>
      <p:grpSp>
        <p:nvGrpSpPr>
          <p:cNvPr id="33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F71DD6F-D504-ECB1-5AD7-77A3C6C2E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75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465</Words>
  <Application>Microsoft Office PowerPoint</Application>
  <PresentationFormat>Panorámica</PresentationFormat>
  <Paragraphs>35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Tema de Office</vt:lpstr>
      <vt:lpstr>Análisis del Mercado Energético Colombiano y Predicción de Precios </vt:lpstr>
      <vt:lpstr>Introducción y Objetivos</vt:lpstr>
      <vt:lpstr>El Precio Marginal</vt:lpstr>
      <vt:lpstr>Embalses vs. Precio</vt:lpstr>
      <vt:lpstr>Adquisición y Pipeline</vt:lpstr>
      <vt:lpstr>La Volatilidad Interna de Colombia</vt:lpstr>
      <vt:lpstr>Presentación de PowerPoint</vt:lpstr>
      <vt:lpstr>El Contraste con Mercados Europeos</vt:lpstr>
      <vt:lpstr>Presentación de PowerPoint</vt:lpstr>
      <vt:lpstr>Presentación de PowerPoint</vt:lpstr>
      <vt:lpstr>Colombia está "Desacoplada" Globalmente</vt:lpstr>
      <vt:lpstr>Presentación de PowerPoint</vt:lpstr>
      <vt:lpstr>Prueba de la Hipótesis - La Correlación</vt:lpstr>
      <vt:lpstr>Presentación de PowerPoint</vt:lpstr>
      <vt:lpstr>Modelo de Predicción: Configuración</vt:lpstr>
      <vt:lpstr>La Predicción vs. la Realidad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Montes</dc:creator>
  <cp:lastModifiedBy>Jesus Montes</cp:lastModifiedBy>
  <cp:revision>1</cp:revision>
  <dcterms:created xsi:type="dcterms:W3CDTF">2025-11-07T18:19:47Z</dcterms:created>
  <dcterms:modified xsi:type="dcterms:W3CDTF">2025-11-07T19:36:46Z</dcterms:modified>
</cp:coreProperties>
</file>